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2920"/>
          </a:xfrm>
          <a:prstGeom prst="roundRect">
            <a:avLst>
              <a:gd name="adj" fmla="val 800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Reference Architecture  —  SQL Server → Databricks Unity Catalog Migration Studio  |  v2.0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502920"/>
            <a:ext cx="12191695" cy="18288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0D47A1"/>
                </a:solidFill>
              </a:rPr>
              <a:t>14 UI Pages  •  85+ API Endpoints  •  Metadata-Driven Medallion  •  CDC/DLT  •  Self-Healing  •  Auto Infrastructure  •  Data Quality  •  Reconciliation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822960"/>
            <a:ext cx="1371600" cy="27432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Azure SQL / SQL 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1124712"/>
            <a:ext cx="1371600" cy="64008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4 Source Types: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• Azure SQL Database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• SQL Server (on-prem)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• SQL Managed Instance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• Synapse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1828800"/>
            <a:ext cx="1371600" cy="201168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SPs  •  Views  •  UDFs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2057400"/>
            <a:ext cx="1371600" cy="32004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AI SP Converter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OpenAI / Gemini / Claude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SQL → PySpark notebooks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54480" y="1325880"/>
            <a:ext cx="118872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1655064" y="1271016"/>
            <a:ext cx="128016" cy="109728"/>
          </a:xfrm>
          <a:prstGeom prst="triangl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83080" y="822960"/>
            <a:ext cx="1828800" cy="27432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Migration Studio (Flask)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83080" y="1124712"/>
            <a:ext cx="1828800" cy="1252728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AI Workflow Manager (14 pages)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─────────────────────────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• Pipeline Studio + Job Manager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• MetadataFlow orchestration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• Auto-init from deployconfig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• Notebook gen &amp; deploy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• Databricks job submit + poll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• CDC / DLT mode config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• Self-Healing Bot (auto-fix)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• Progress Tracker (7 steps)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• Reports &amp; Email alerts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1325880"/>
            <a:ext cx="210311" cy="0"/>
          </a:xfrm>
          <a:prstGeom prst="line">
            <a:avLst/>
          </a:prstGeom>
          <a:ln w="2540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3849623" y="1271016"/>
            <a:ext cx="128016" cy="109728"/>
          </a:xfrm>
          <a:prstGeom prst="triangl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0058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666666"/>
                </a:solidFill>
              </a:rPr>
              <a:t>REST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777240"/>
            <a:ext cx="8046720" cy="2514600"/>
          </a:xfrm>
          <a:prstGeom prst="roundRect">
            <a:avLst>
              <a:gd name="adj" fmla="val 2000"/>
            </a:avLst>
          </a:prstGeom>
          <a:solidFill>
            <a:srgbClr val="FDFDFD"/>
          </a:solidFill>
          <a:ln w="25400">
            <a:solidFill>
              <a:srgbClr val="FF3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79" y="80467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3E21"/>
                </a:solidFill>
              </a:rPr>
              <a:t>Databricks Unity Catalog  —  Multi-Catalog 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87367" y="1051560"/>
            <a:ext cx="1691640" cy="219456"/>
          </a:xfrm>
          <a:prstGeom prst="roundRect">
            <a:avLst>
              <a:gd name="adj" fmla="val 8000"/>
            </a:avLst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dev_volumes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87367" y="1289304"/>
            <a:ext cx="1691640" cy="164592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2700">
            <a:solidFill>
              <a:srgbClr val="607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333333"/>
                </a:solidFill>
              </a:rPr>
              <a:t>UC Volumes (Landing)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87367" y="1472184"/>
            <a:ext cx="1691640" cy="384048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 w="12700">
            <a:solidFill>
              <a:srgbClr val="607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/Volumes/dev_volumes/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  hr/landing/{table}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Parquet staging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79007" y="1554480"/>
            <a:ext cx="54864" cy="0"/>
          </a:xfrm>
          <a:prstGeom prst="line">
            <a:avLst/>
          </a:prstGeom>
          <a:ln w="2540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5815583" y="1499616"/>
            <a:ext cx="128016" cy="109728"/>
          </a:xfrm>
          <a:prstGeom prst="triangl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3599" y="1051560"/>
            <a:ext cx="1691640" cy="219456"/>
          </a:xfrm>
          <a:prstGeom prst="roundRect">
            <a:avLst>
              <a:gd name="adj" fmla="val 8000"/>
            </a:avLst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bronze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599" y="1289304"/>
            <a:ext cx="1691640" cy="164592"/>
          </a:xfrm>
          <a:prstGeom prst="roundRect">
            <a:avLst>
              <a:gd name="adj" fmla="val 8000"/>
            </a:avLst>
          </a:prstGeom>
          <a:solidFill>
            <a:srgbClr val="FBE9D0"/>
          </a:solidFill>
          <a:ln w="127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333333"/>
                </a:solidFill>
              </a:rPr>
              <a:t>Bronze (Raw + Audit)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599" y="1472184"/>
            <a:ext cx="1691640" cy="384048"/>
          </a:xfrm>
          <a:prstGeom prst="roundRect">
            <a:avLst>
              <a:gd name="adj" fmla="val 4000"/>
            </a:avLst>
          </a:prstGeom>
          <a:solidFill>
            <a:srgbClr val="FBE9D0"/>
          </a:solidFill>
          <a:ln w="127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bronze.hr.{table}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Delta Tables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+ audit cols + DQ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635239" y="1554480"/>
            <a:ext cx="54864" cy="0"/>
          </a:xfrm>
          <a:prstGeom prst="line">
            <a:avLst/>
          </a:prstGeom>
          <a:ln w="25400">
            <a:solidFill>
              <a:srgbClr val="CD7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7671815" y="1499616"/>
            <a:ext cx="128016" cy="109728"/>
          </a:xfrm>
          <a:prstGeom prst="triangle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99831" y="1051560"/>
            <a:ext cx="1691640" cy="219456"/>
          </a:xfrm>
          <a:prstGeom prst="roundRect">
            <a:avLst>
              <a:gd name="adj" fmla="val 8000"/>
            </a:avLst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9831" y="1289304"/>
            <a:ext cx="1691640" cy="164592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2700">
            <a:solidFill>
              <a:srgbClr val="AAA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333333"/>
                </a:solidFill>
              </a:rPr>
              <a:t>Silver (Cleansed)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99831" y="1472184"/>
            <a:ext cx="1691640" cy="384048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 w="12700">
            <a:solidFill>
              <a:srgbClr val="AAA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silver.hr.{table}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Dedup + null handling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7-check DQ scoring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91471" y="1554480"/>
            <a:ext cx="54864" cy="0"/>
          </a:xfrm>
          <a:prstGeom prst="line">
            <a:avLst/>
          </a:prstGeom>
          <a:ln w="25400">
            <a:solidFill>
              <a:srgbClr val="AAA9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9528047" y="1499616"/>
            <a:ext cx="128016" cy="109728"/>
          </a:xfrm>
          <a:prstGeom prst="triangle">
            <a:avLst/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56063" y="1051560"/>
            <a:ext cx="1691640" cy="219456"/>
          </a:xfrm>
          <a:prstGeom prst="roundRect">
            <a:avLst>
              <a:gd name="adj" fmla="val 8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333333"/>
                </a:solidFill>
              </a:rPr>
              <a:t>gold (future)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56063" y="1289304"/>
            <a:ext cx="1691640" cy="164592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333333"/>
                </a:solidFill>
              </a:rPr>
              <a:t>Gold (Business KPIs)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56063" y="1472184"/>
            <a:ext cx="1691640" cy="384048"/>
          </a:xfrm>
          <a:prstGeom prst="roundRect">
            <a:avLst>
              <a:gd name="adj" fmla="val 4000"/>
            </a:avLst>
          </a:prstGeom>
          <a:solidFill>
            <a:srgbClr val="FFF8E1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Aggregated datasets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BI-ready views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Power BI / Tableau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87367" y="1920240"/>
            <a:ext cx="7827264" cy="201168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50" b="1">
                <a:solidFill>
                  <a:srgbClr val="FFFFFF"/>
                </a:solidFill>
              </a:rPr>
              <a:t>Metadata Delta Tables  •  Reconciliation  •  Logging  •  DQ Metrics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87367" y="2139696"/>
            <a:ext cx="1063316" cy="237744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550" b="0">
                <a:solidFill>
                  <a:srgbClr val="333333"/>
                </a:solidFill>
              </a:rPr>
              <a:t>wf_pipeline_metadata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14691" y="2139696"/>
            <a:ext cx="1063316" cy="237744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550" b="0">
                <a:solidFill>
                  <a:srgbClr val="333333"/>
                </a:solidFill>
              </a:rPr>
              <a:t>wf_job_metadata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42016" y="2139696"/>
            <a:ext cx="1063316" cy="237744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550" b="0">
                <a:solidFill>
                  <a:srgbClr val="333333"/>
                </a:solidFill>
              </a:rPr>
              <a:t>wf_run_history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69340" y="2139696"/>
            <a:ext cx="1063316" cy="237744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550" b="0">
                <a:solidFill>
                  <a:srgbClr val="333333"/>
                </a:solidFill>
              </a:rPr>
              <a:t>wf_watermark_metadata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96665" y="2139696"/>
            <a:ext cx="1063316" cy="237744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550" b="0">
                <a:solidFill>
                  <a:srgbClr val="333333"/>
                </a:solidFill>
              </a:rPr>
              <a:t>wf_source_tables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23989" y="2139696"/>
            <a:ext cx="1063316" cy="2377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550" b="0">
                <a:solidFill>
                  <a:srgbClr val="333333"/>
                </a:solidFill>
              </a:rPr>
              <a:t>Reconciliation.*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851314" y="2139696"/>
            <a:ext cx="1063316" cy="2377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550" b="0">
                <a:solidFill>
                  <a:srgbClr val="333333"/>
                </a:solidFill>
              </a:rPr>
              <a:t>ExecutionLog.*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87367" y="2423160"/>
            <a:ext cx="7827264" cy="201168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50" b="1">
                <a:solidFill>
                  <a:srgbClr val="FFFFFF"/>
                </a:solidFill>
              </a:rPr>
              <a:t>Auto-Generated Notebooks  (Standard PySpark  +  DLT Mode  +  CDC)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87367" y="2642616"/>
            <a:ext cx="1228344" cy="182880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1">
                <a:solidFill>
                  <a:srgbClr val="333333"/>
                </a:solidFill>
              </a:rPr>
              <a:t>00_Orchestrator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087367" y="2843784"/>
            <a:ext cx="1228344" cy="310896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Chains stages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DLT or Spark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5297423.0" y="2880360"/>
            <a:ext cx="18288.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 rot="5400000">
            <a:off x="5279135" y="282549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07151" y="2642616"/>
            <a:ext cx="1228344" cy="182880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1">
                <a:solidFill>
                  <a:srgbClr val="333333"/>
                </a:solidFill>
              </a:rPr>
              <a:t>01_Extract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07151" y="2843784"/>
            <a:ext cx="1228344" cy="310896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JDBC + Watermark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Parquet → Volumes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6617207.0" y="2880360"/>
            <a:ext cx="18288.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 rot="5400000">
            <a:off x="6598919" y="282549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726935" y="2642616"/>
            <a:ext cx="1228344" cy="182880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1">
                <a:solidFill>
                  <a:srgbClr val="333333"/>
                </a:solidFill>
              </a:rPr>
              <a:t>02_Bronze/DLT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726935" y="2843784"/>
            <a:ext cx="1228344" cy="310896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Landing → Bronze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Audit + DQ checks</a:t>
            </a:r>
          </a:p>
        </p:txBody>
      </p:sp>
      <p:cxnSp>
        <p:nvCxnSpPr>
          <p:cNvPr id="54" name="Connector 53"/>
          <p:cNvCxnSpPr/>
          <p:nvPr/>
        </p:nvCxnSpPr>
        <p:spPr>
          <a:xfrm flipH="1">
            <a:off x="7936991.0" y="2880360"/>
            <a:ext cx="18288.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Isosceles Triangle 54"/>
          <p:cNvSpPr/>
          <p:nvPr/>
        </p:nvSpPr>
        <p:spPr>
          <a:xfrm rot="5400000">
            <a:off x="7918703" y="282549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046719" y="2642616"/>
            <a:ext cx="1228344" cy="182880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1">
                <a:solidFill>
                  <a:srgbClr val="333333"/>
                </a:solidFill>
              </a:rPr>
              <a:t>03_Silver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46719" y="2843784"/>
            <a:ext cx="1228344" cy="310896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Bronze → Silver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7-check DQ score</a:t>
            </a:r>
          </a:p>
        </p:txBody>
      </p:sp>
      <p:cxnSp>
        <p:nvCxnSpPr>
          <p:cNvPr id="58" name="Connector 57"/>
          <p:cNvCxnSpPr/>
          <p:nvPr/>
        </p:nvCxnSpPr>
        <p:spPr>
          <a:xfrm flipH="1">
            <a:off x="9256775.0" y="2880360"/>
            <a:ext cx="18288.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Isosceles Triangle 58"/>
          <p:cNvSpPr/>
          <p:nvPr/>
        </p:nvSpPr>
        <p:spPr>
          <a:xfrm rot="5400000">
            <a:off x="9238487" y="282549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366503" y="2642616"/>
            <a:ext cx="1228344" cy="182880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1">
                <a:solidFill>
                  <a:srgbClr val="333333"/>
                </a:solidFill>
              </a:rPr>
              <a:t>04_Reconciliation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366503" y="2843784"/>
            <a:ext cx="1228344" cy="310896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Source vs Bronze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SUM per col</a:t>
            </a:r>
          </a:p>
        </p:txBody>
      </p:sp>
      <p:cxnSp>
        <p:nvCxnSpPr>
          <p:cNvPr id="62" name="Connector 61"/>
          <p:cNvCxnSpPr/>
          <p:nvPr/>
        </p:nvCxnSpPr>
        <p:spPr>
          <a:xfrm flipH="1">
            <a:off x="10576559.0" y="2880360"/>
            <a:ext cx="18288.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Isosceles Triangle 62"/>
          <p:cNvSpPr/>
          <p:nvPr/>
        </p:nvSpPr>
        <p:spPr>
          <a:xfrm rot="5400000">
            <a:off x="10558271" y="282549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0686287" y="2642616"/>
            <a:ext cx="1228344" cy="182880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00" b="1">
                <a:solidFill>
                  <a:srgbClr val="333333"/>
                </a:solidFill>
              </a:rPr>
              <a:t>05_ExecutionLog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686287" y="2843784"/>
            <a:ext cx="1228344" cy="310896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Audit trail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Per-job results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37160" y="3520440"/>
            <a:ext cx="1783080" cy="237744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Deploy Infrastructure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37160" y="3776472"/>
            <a:ext cx="1783080" cy="713232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AutoInfraCreation (Azure SDK)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1. ADLS Gen2 + HNS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2. Access Connector (MI)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3. RBAC role assignment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4. UC Storage Credential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5. External Locations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6. Catalogs + MANAGED LOC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7. UC Volumes (landing)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37160" y="4572000"/>
            <a:ext cx="850392" cy="201168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Self-Healing Bot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37160" y="4791456"/>
            <a:ext cx="850392" cy="41148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550">
                <a:solidFill>
                  <a:srgbClr val="333333"/>
                </a:solidFill>
              </a:rPr>
              <a:t>Error classification</a:t>
            </a:r>
          </a:p>
          <a:p>
            <a:pPr>
              <a:spcAft>
                <a:spcPts val="100"/>
              </a:spcAft>
            </a:pPr>
            <a:r>
              <a:rPr sz="550">
                <a:solidFill>
                  <a:srgbClr val="333333"/>
                </a:solidFill>
              </a:rPr>
              <a:t>Auto-retry + backoff</a:t>
            </a:r>
          </a:p>
          <a:p>
            <a:pPr>
              <a:spcAft>
                <a:spcPts val="100"/>
              </a:spcAft>
            </a:pPr>
            <a:r>
              <a:rPr sz="550">
                <a:solidFill>
                  <a:srgbClr val="333333"/>
                </a:solidFill>
              </a:rPr>
              <a:t>Cluster restart</a:t>
            </a:r>
          </a:p>
          <a:p>
            <a:pPr>
              <a:spcAft>
                <a:spcPts val="100"/>
              </a:spcAft>
            </a:pPr>
            <a:r>
              <a:rPr sz="550">
                <a:solidFill>
                  <a:srgbClr val="333333"/>
                </a:solidFill>
              </a:rPr>
              <a:t>Restore points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33271" y="4572000"/>
            <a:ext cx="886968" cy="201168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CDC / DLT Engine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33271" y="4791456"/>
            <a:ext cx="886968" cy="4114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550">
                <a:solidFill>
                  <a:srgbClr val="333333"/>
                </a:solidFill>
              </a:rPr>
              <a:t>Change Tracking CDC</a:t>
            </a:r>
          </a:p>
          <a:p>
            <a:pPr>
              <a:spcAft>
                <a:spcPts val="100"/>
              </a:spcAft>
            </a:pPr>
            <a:r>
              <a:rPr sz="550">
                <a:solidFill>
                  <a:srgbClr val="333333"/>
                </a:solidFill>
              </a:rPr>
              <a:t>DLT Auto Loader</a:t>
            </a:r>
          </a:p>
          <a:p>
            <a:pPr>
              <a:spcAft>
                <a:spcPts val="100"/>
              </a:spcAft>
            </a:pPr>
            <a:r>
              <a:rPr sz="550">
                <a:solidFill>
                  <a:srgbClr val="333333"/>
                </a:solidFill>
              </a:rPr>
              <a:t>Watermark-based incr.</a:t>
            </a:r>
          </a:p>
          <a:p>
            <a:pPr>
              <a:spcAft>
                <a:spcPts val="100"/>
              </a:spcAft>
            </a:pPr>
            <a:r>
              <a:rPr sz="550">
                <a:solidFill>
                  <a:srgbClr val="333333"/>
                </a:solidFill>
              </a:rPr>
              <a:t>Primary key config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148840" y="3520440"/>
            <a:ext cx="4389120" cy="237744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Migration Studio UI  —  14 Feature-Rich Pages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148840" y="3794760"/>
            <a:ext cx="2121408" cy="201168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📊 Dashboard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148840" y="4014216"/>
            <a:ext cx="2121408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🔄 MetadataFlow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148840" y="4233672"/>
            <a:ext cx="2121408" cy="201168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⚡ Pipeline Studio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148840" y="4453128"/>
            <a:ext cx="2121408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📋 Job Manager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148840" y="4672584"/>
            <a:ext cx="2121408" cy="201168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📈 Reports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148840" y="4892040"/>
            <a:ext cx="2121408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📍 Progress Tracker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148840" y="5111496"/>
            <a:ext cx="2121408" cy="201168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🔐 Audit &amp; Compliance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343400" y="3794760"/>
            <a:ext cx="2121408" cy="201168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✨ Data Quality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343400" y="4014216"/>
            <a:ext cx="2121408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🔀 Schema Comparison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343400" y="4233672"/>
            <a:ext cx="2121408" cy="201168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📐 Reconciliation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343400" y="4453128"/>
            <a:ext cx="2121408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⚙️ Settings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343400" y="4672584"/>
            <a:ext cx="2121408" cy="201168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🔧 Convert to PySpark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343400" y="4892040"/>
            <a:ext cx="2121408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🚀 Deploy Notebooks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343400" y="5111496"/>
            <a:ext cx="2121408" cy="201168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📦 Data Migration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766560" y="3520440"/>
            <a:ext cx="1298448" cy="237744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50" b="1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766560" y="3776472"/>
            <a:ext cx="1298448" cy="566928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PAT token auth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Encrypted JDBC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UC RBAC per catalog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MANAGED LOCATION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156448" y="3520440"/>
            <a:ext cx="1298448" cy="237744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50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156448" y="3776472"/>
            <a:ext cx="1298448" cy="566928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Reconciliation catalog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Execution logging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Delta versioning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Audit trail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546336" y="3520440"/>
            <a:ext cx="1298448" cy="237744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50" b="1">
                <a:solidFill>
                  <a:srgbClr val="FFFFFF"/>
                </a:solidFill>
              </a:rPr>
              <a:t>Reliability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546336" y="3776472"/>
            <a:ext cx="1298448" cy="566928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Self-healing bot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Per-stage rerun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DQ scoring (12+)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Restore points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936224" y="3520440"/>
            <a:ext cx="1298448" cy="237744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50" b="1"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0936224" y="3776472"/>
            <a:ext cx="1298448" cy="566928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Metadata-driven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DLT + PySpark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Multi-catalog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CDC watermarks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766560" y="4407408"/>
            <a:ext cx="850392" cy="219456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85+  API Endpoints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690104" y="4407408"/>
            <a:ext cx="850392" cy="219456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14  UI Pages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613648" y="4407408"/>
            <a:ext cx="850392" cy="219456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12  Python Modules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537192" y="4407408"/>
            <a:ext cx="850392" cy="219456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6  Notebooks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460736" y="4407408"/>
            <a:ext cx="850392" cy="219456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10+  Healing Actions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1384280" y="4407408"/>
            <a:ext cx="850392" cy="219456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12+  DQ Checks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37160" y="5212080"/>
            <a:ext cx="3657600" cy="201168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37160" y="5431536"/>
            <a:ext cx="1508760" cy="18288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Azure SQL / SQL Server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645920" y="5431536"/>
            <a:ext cx="2148840" cy="18288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4 source types (Azure SQL, SQL Server, MI, Synapse)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37160" y="5614416"/>
            <a:ext cx="150876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Python 3.11 / Flask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645920" y="5614416"/>
            <a:ext cx="214884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Web UI + REST API (85+ endpoints)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37160" y="5797296"/>
            <a:ext cx="1508760" cy="18288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Databricks REST API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645920" y="5797296"/>
            <a:ext cx="2148840" cy="18288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Job submit, poll, notebook deploy, cluster ops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37160" y="5980176"/>
            <a:ext cx="150876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UC Volumes + Delta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645920" y="5980176"/>
            <a:ext cx="214884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Landing (Parquet) → Bronze/Silver (Delta)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37160" y="6163056"/>
            <a:ext cx="1508760" cy="18288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Delta Live Tables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645920" y="6163056"/>
            <a:ext cx="2148840" cy="18288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DLT Auto Loader + expectations + CDC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37160" y="6345936"/>
            <a:ext cx="150876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deployconfig.json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645920" y="6345936"/>
            <a:ext cx="2148840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0">
                <a:solidFill>
                  <a:srgbClr val="333333"/>
                </a:solidFill>
              </a:rPr>
              <a:t>Centralised config — auto-loads on startup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023360" y="5212080"/>
            <a:ext cx="5029200" cy="201168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End-to-End Data Flow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4114800" y="5468112"/>
            <a:ext cx="621792" cy="420624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Azure
SQL</a:t>
            </a:r>
          </a:p>
        </p:txBody>
      </p:sp>
      <p:cxnSp>
        <p:nvCxnSpPr>
          <p:cNvPr id="116" name="Connector 115"/>
          <p:cNvCxnSpPr/>
          <p:nvPr/>
        </p:nvCxnSpPr>
        <p:spPr>
          <a:xfrm flipH="1">
            <a:off x="4690872" y="5678424"/>
            <a:ext cx="45720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Isosceles Triangle 116"/>
          <p:cNvSpPr/>
          <p:nvPr/>
        </p:nvSpPr>
        <p:spPr>
          <a:xfrm rot="5400000">
            <a:off x="4672584" y="5623560"/>
            <a:ext cx="128016" cy="109728"/>
          </a:xfrm>
          <a:prstGeom prst="triangl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4800600" y="5468112"/>
            <a:ext cx="621792" cy="420624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JDBC
Extract</a:t>
            </a:r>
          </a:p>
        </p:txBody>
      </p:sp>
      <p:cxnSp>
        <p:nvCxnSpPr>
          <p:cNvPr id="119" name="Connector 118"/>
          <p:cNvCxnSpPr/>
          <p:nvPr/>
        </p:nvCxnSpPr>
        <p:spPr>
          <a:xfrm flipH="1">
            <a:off x="5376672" y="5678424"/>
            <a:ext cx="45720" cy="0"/>
          </a:xfrm>
          <a:prstGeom prst="line">
            <a:avLst/>
          </a:prstGeom>
          <a:ln w="2540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Isosceles Triangle 119"/>
          <p:cNvSpPr/>
          <p:nvPr/>
        </p:nvSpPr>
        <p:spPr>
          <a:xfrm rot="5400000">
            <a:off x="5358384" y="5623560"/>
            <a:ext cx="128016" cy="109728"/>
          </a:xfrm>
          <a:prstGeom prst="triangl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5486400" y="5468112"/>
            <a:ext cx="621792" cy="420624"/>
          </a:xfrm>
          <a:prstGeom prst="roundRect">
            <a:avLst>
              <a:gd name="adj" fmla="val 8000"/>
            </a:avLst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Volumes
Landing</a:t>
            </a:r>
          </a:p>
        </p:txBody>
      </p:sp>
      <p:cxnSp>
        <p:nvCxnSpPr>
          <p:cNvPr id="122" name="Connector 121"/>
          <p:cNvCxnSpPr/>
          <p:nvPr/>
        </p:nvCxnSpPr>
        <p:spPr>
          <a:xfrm flipH="1">
            <a:off x="6062472" y="5678424"/>
            <a:ext cx="45720" cy="0"/>
          </a:xfrm>
          <a:prstGeom prst="line">
            <a:avLst/>
          </a:prstGeom>
          <a:ln w="2540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Isosceles Triangle 122"/>
          <p:cNvSpPr/>
          <p:nvPr/>
        </p:nvSpPr>
        <p:spPr>
          <a:xfrm rot="5400000">
            <a:off x="6044184" y="5623560"/>
            <a:ext cx="128016" cy="109728"/>
          </a:xfrm>
          <a:prstGeom prst="triangl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6172200" y="5468112"/>
            <a:ext cx="621792" cy="420624"/>
          </a:xfrm>
          <a:prstGeom prst="roundRect">
            <a:avLst>
              <a:gd name="adj" fmla="val 8000"/>
            </a:avLst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Bronze
Delta</a:t>
            </a:r>
          </a:p>
        </p:txBody>
      </p:sp>
      <p:cxnSp>
        <p:nvCxnSpPr>
          <p:cNvPr id="125" name="Connector 124"/>
          <p:cNvCxnSpPr/>
          <p:nvPr/>
        </p:nvCxnSpPr>
        <p:spPr>
          <a:xfrm flipH="1">
            <a:off x="6748272" y="5678424"/>
            <a:ext cx="45720" cy="0"/>
          </a:xfrm>
          <a:prstGeom prst="line">
            <a:avLst/>
          </a:prstGeom>
          <a:ln w="25400">
            <a:solidFill>
              <a:srgbClr val="CD7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Isosceles Triangle 125"/>
          <p:cNvSpPr/>
          <p:nvPr/>
        </p:nvSpPr>
        <p:spPr>
          <a:xfrm rot="5400000">
            <a:off x="6729984" y="5623560"/>
            <a:ext cx="128016" cy="109728"/>
          </a:xfrm>
          <a:prstGeom prst="triangle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6858000" y="5468112"/>
            <a:ext cx="621792" cy="420624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DQ +
Recon</a:t>
            </a:r>
          </a:p>
        </p:txBody>
      </p:sp>
      <p:cxnSp>
        <p:nvCxnSpPr>
          <p:cNvPr id="128" name="Connector 127"/>
          <p:cNvCxnSpPr/>
          <p:nvPr/>
        </p:nvCxnSpPr>
        <p:spPr>
          <a:xfrm flipH="1">
            <a:off x="7434072" y="5678424"/>
            <a:ext cx="45720" cy="0"/>
          </a:xfrm>
          <a:prstGeom prst="line">
            <a:avLst/>
          </a:prstGeom>
          <a:ln w="25400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Isosceles Triangle 128"/>
          <p:cNvSpPr/>
          <p:nvPr/>
        </p:nvSpPr>
        <p:spPr>
          <a:xfrm rot="5400000">
            <a:off x="7415784" y="5623560"/>
            <a:ext cx="128016" cy="109728"/>
          </a:xfrm>
          <a:prstGeom prst="triangl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7543800" y="5468112"/>
            <a:ext cx="621792" cy="420624"/>
          </a:xfrm>
          <a:prstGeom prst="roundRect">
            <a:avLst>
              <a:gd name="adj" fmla="val 8000"/>
            </a:avLst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Silver
Delta</a:t>
            </a:r>
          </a:p>
        </p:txBody>
      </p:sp>
      <p:cxnSp>
        <p:nvCxnSpPr>
          <p:cNvPr id="131" name="Connector 130"/>
          <p:cNvCxnSpPr/>
          <p:nvPr/>
        </p:nvCxnSpPr>
        <p:spPr>
          <a:xfrm flipH="1">
            <a:off x="8119872" y="5678424"/>
            <a:ext cx="45720" cy="0"/>
          </a:xfrm>
          <a:prstGeom prst="line">
            <a:avLst/>
          </a:prstGeom>
          <a:ln w="25400">
            <a:solidFill>
              <a:srgbClr val="AAA9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Isosceles Triangle 131"/>
          <p:cNvSpPr/>
          <p:nvPr/>
        </p:nvSpPr>
        <p:spPr>
          <a:xfrm rot="5400000">
            <a:off x="8101584" y="5623560"/>
            <a:ext cx="128016" cy="109728"/>
          </a:xfrm>
          <a:prstGeom prst="triangle">
            <a:avLst/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8229600" y="5468112"/>
            <a:ext cx="621792" cy="420624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1">
                <a:solidFill>
                  <a:srgbClr val="FFFFFF"/>
                </a:solidFill>
              </a:rPr>
              <a:t>Exec
Log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4114800" y="5943600"/>
            <a:ext cx="4846320" cy="292608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Standard Mode: Extract → Bronze → Silver (3 stages)  |  DLT Mode: Extract → DLT Bronze+Silver (2 stages)</a:t>
            </a:r>
          </a:p>
          <a:p>
            <a:pPr>
              <a:spcAft>
                <a:spcPts val="100"/>
              </a:spcAft>
            </a:pPr>
            <a:r>
              <a:rPr sz="600">
                <a:solidFill>
                  <a:srgbClr val="333333"/>
                </a:solidFill>
              </a:rPr>
              <a:t>CDC: Change Tracking + Watermark-based incremental  |  Rerun: Per-job rerun from first failure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9281160" y="5212080"/>
            <a:ext cx="2743200" cy="201168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Key Integration Points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9281160" y="5431536"/>
            <a:ext cx="274320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• deployconfig.json — all creds + catalog map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9281160" y="5605272"/>
            <a:ext cx="2743200" cy="164592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• Auto-init on page load (MetadataFlow)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9281160" y="5779008"/>
            <a:ext cx="274320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• Settings page: Source DB + Metadata loc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9281160" y="5952744"/>
            <a:ext cx="2743200" cy="164592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• Schema Comparison: drift detection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9281160" y="6126480"/>
            <a:ext cx="2743200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• Data Quality: 12+ checks + __dq_metrics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9281160" y="6300216"/>
            <a:ext cx="2743200" cy="164592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333333"/>
                </a:solidFill>
              </a:rPr>
              <a:t>• Reconciliation: SUM validation per col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82880" y="6583680"/>
            <a:ext cx="1188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66666"/>
                </a:solidFill>
              </a:rPr>
              <a:t>SQL → Databricks Migration Studio v2.0  |  Metadata-Driven Medallion  |  CDC + DLT  |  Self-Healing  |  14 UI Pages  |  85+ Endpoints  |  deployconfig.json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What's New in v2.0  —  All Features Added Since Initial Architecture (v1)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" y="548640"/>
            <a:ext cx="3840480" cy="256032"/>
          </a:xfrm>
          <a:prstGeom prst="roundRect">
            <a:avLst>
              <a:gd name="adj" fmla="val 800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🏗️ Architecture &amp; Backend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859536"/>
            <a:ext cx="3840480" cy="237744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Settings Page — Centralized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1115568"/>
            <a:ext cx="3840480" cy="585216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Source Database Connection (server, db, user, pass)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Test Connection button with server version display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Metadata Tables Location (catalog + schema)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Auto-save to deployconfig.json on change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All pages auto-populate from saved 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1746504"/>
            <a:ext cx="3840480" cy="237744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Auto-Init from deployconfig.json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2002536"/>
            <a:ext cx="3840480" cy="585216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Backend _restore_from_deploy_config() on module load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Auto-detects SQL Warehouse (inline, no NameError)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Sets _metadata_initialized=True if config exists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Frontend _autoInitFromConfig() on page load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No need to visit MetadataFlow tab first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" y="2633472"/>
            <a:ext cx="3840480" cy="237744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Pipeline Studio Redesign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" y="2889504"/>
            <a:ext cx="3840480" cy="585216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Removed Connect Data Source panel (uses Settings)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Two-column table picker: Available ↔ Selected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Blue checkboxes, hover effects, search + filter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Compact Cluster bar (was 50/50 → single row)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Auto-populate tables on Discover click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3520440"/>
            <a:ext cx="3840480" cy="237744"/>
          </a:xfrm>
          <a:prstGeom prst="roundRect">
            <a:avLst>
              <a:gd name="adj" fmla="val 8000"/>
            </a:avLst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Job Manager — Auto Run on Databricks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" y="3776472"/>
            <a:ext cx="3840480" cy="585216"/>
          </a:xfrm>
          <a:prstGeom prst="roundRect">
            <a:avLst>
              <a:gd name="adj" fmla="val 4000"/>
            </a:avLst>
          </a:prstGeom>
          <a:solidFill>
            <a:srgbClr val="FFF8E1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Auto-detect deployment from /api/workflow/notebooks/status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Fallback credential chain: UI → Settings → deployconfig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Auto-detect running clusters for execution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Background poller updates JOB_REGISTRY status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10s auto-refresh when running jobs exist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" y="4407408"/>
            <a:ext cx="3840480" cy="237744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SQL Objects Panel Redesign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" y="4663440"/>
            <a:ext cx="3840480" cy="402336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Rounded card layout with icon + count pill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Filter pills (All, None, SP, Views, UDFs)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Larger checkboxes, type descriptions, tooltips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Grouped sections with collapse/expand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548640"/>
            <a:ext cx="3840480" cy="256032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⚡ Pipeline &amp; Data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859536"/>
            <a:ext cx="3840480" cy="237744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CDC + DLT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115568"/>
            <a:ext cx="3840480" cy="45720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Change Tracking CDC mode for incremental loads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DLT Auto Loader with Delta expectations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Watermark-based incremental with auto-advance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Primary key configuration in deployconfig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1618488"/>
            <a:ext cx="3840480" cy="237744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Data Quality Framework (12+ Checks)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1874520"/>
            <a:ext cx="3840480" cy="4572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Bronze: empty file, null-key, dups, schema drift, quarantine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Silver: null removal, high-null cols, dedup, trim, anomaly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DQ Score % → saved to __dq_metrics Delta table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Per-row: __dq_status (passed/warn) + __is_quarantined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2377440"/>
            <a:ext cx="3840480" cy="237744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Self-Healing Bot — Auto Recovery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2633472"/>
            <a:ext cx="3840480" cy="338328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Error classification: OOM, Auth, Schema, Timeout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Healing: retry (exp backoff), restart, scale up, rollback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Restore points: named snapshots for safe recovery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017520"/>
            <a:ext cx="3840480" cy="237744"/>
          </a:xfrm>
          <a:prstGeom prst="roundRect">
            <a:avLst>
              <a:gd name="adj" fmla="val 8000"/>
            </a:avLst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Schema Comparison &amp; Drift Detection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273552"/>
            <a:ext cx="3840480" cy="338328"/>
          </a:xfrm>
          <a:prstGeom prst="roundRect">
            <a:avLst>
              <a:gd name="adj" fmla="val 4000"/>
            </a:avLst>
          </a:prstGeom>
          <a:solidFill>
            <a:srgbClr val="E8EAF6"/>
          </a:solidFill>
          <a:ln w="1270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Source vs target column comparison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Type mismatch + nullable change detection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Smart recommendations per column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3657600"/>
            <a:ext cx="3840480" cy="237744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Reconciliation &amp; Execution Logging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3913632"/>
            <a:ext cx="3840480" cy="338328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04_Reconciliation: SUM per numeric col validation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05_ExecutionLog: per-job audit trail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Saves to dedicated catalogs (configurable)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4297680"/>
            <a:ext cx="3840480" cy="237744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Deploy Infrastructure (AutoInfraCreation)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4553712"/>
            <a:ext cx="3840480" cy="219456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7-step Azure + UC setup via Azure Python SDK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ADLS Gen2, Access Connector, RBAC, Catalogs, Volumes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548640"/>
            <a:ext cx="3840480" cy="256032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🔧 Fixes &amp; Improvements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859536"/>
            <a:ext cx="3840480" cy="237744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Metadata Table Location Fix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1115568"/>
            <a:ext cx="3840480" cy="33832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Fixed TABLE_OR_VIEW_NOT_FOUND for wf_pipeline_metadata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Tables exist in admin_source.configtables (not main.default)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Added metadata_catalog / metadata_schema to deployconfig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1499616"/>
            <a:ext cx="3840480" cy="237744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Job Status Polling Fix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79" y="1755648"/>
            <a:ext cx="3840480" cy="2194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Poller now updates JOB_REGISTRY (was updating only JOB_RUNS)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Auto-refresh timer (10s) when running jobs exist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79" y="2020823"/>
            <a:ext cx="3840480" cy="237744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NameError Fix — Backend Auto-Restore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79" y="2276855"/>
            <a:ext cx="3840480" cy="2194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_restore_from_deploy_config() inlined warehouse detection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No longer calls _dbr_session() before it's defined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79" y="2542030"/>
            <a:ext cx="3840480" cy="237744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JDBC ORDER BY Fix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79" y="2798062"/>
            <a:ext cx="3840480" cy="2194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Removed ORDER BY ORDINAL_POSITION from JDBC subquery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SQL Server forbids ORDER BY in derived tables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79" y="3063237"/>
            <a:ext cx="3840480" cy="237744"/>
          </a:xfrm>
          <a:prstGeom prst="roundRect">
            <a:avLst>
              <a:gd name="adj" fmla="val 800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Before (v1) → After (v2)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83879" y="3319269"/>
            <a:ext cx="914400" cy="164592"/>
          </a:xfrm>
          <a:prstGeom prst="roundRect">
            <a:avLst>
              <a:gd name="adj" fmla="val 8000"/>
            </a:avLst>
          </a:pr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333333"/>
                </a:solidFill>
              </a:rPr>
              <a:t>Feature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98279" y="3319269"/>
            <a:ext cx="1188720" cy="164592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C62828"/>
                </a:solidFill>
              </a:rPr>
              <a:t>v1 (Before)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86999" y="3319269"/>
            <a:ext cx="1737360" cy="164592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00" b="1">
                <a:solidFill>
                  <a:srgbClr val="2E7D32"/>
                </a:solidFill>
              </a:rPr>
              <a:t>v2 (After)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83879" y="3483861"/>
            <a:ext cx="91440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1">
                <a:solidFill>
                  <a:srgbClr val="333333"/>
                </a:solidFill>
              </a:rPr>
              <a:t>UI Pages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98279" y="3483861"/>
            <a:ext cx="118872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Basic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86999" y="3483861"/>
            <a:ext cx="173736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2E7D32"/>
                </a:solidFill>
              </a:rPr>
              <a:t>14 feature-rich tabs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83879" y="3630165"/>
            <a:ext cx="91440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1">
                <a:solidFill>
                  <a:srgbClr val="333333"/>
                </a:solidFill>
              </a:rPr>
              <a:t>API Endpoints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98279" y="3630165"/>
            <a:ext cx="118872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~30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86999" y="3630165"/>
            <a:ext cx="173736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2E7D32"/>
                </a:solidFill>
              </a:rPr>
              <a:t>85+ routes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83879" y="3776469"/>
            <a:ext cx="91440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1">
                <a:solidFill>
                  <a:srgbClr val="333333"/>
                </a:solidFill>
              </a:rPr>
              <a:t>Config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98279" y="3776469"/>
            <a:ext cx="118872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Hardcoded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86999" y="3776469"/>
            <a:ext cx="173736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2E7D32"/>
                </a:solidFill>
              </a:rPr>
              <a:t>deployconfig.json auto-init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83879" y="3922773"/>
            <a:ext cx="91440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1">
                <a:solidFill>
                  <a:srgbClr val="333333"/>
                </a:solidFill>
              </a:rPr>
              <a:t>MetadataFlow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98279" y="3922773"/>
            <a:ext cx="118872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Manual init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86999" y="3922773"/>
            <a:ext cx="173736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2E7D32"/>
                </a:solidFill>
              </a:rPr>
              <a:t>Auto-init on page load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83879" y="4069077"/>
            <a:ext cx="91440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1">
                <a:solidFill>
                  <a:srgbClr val="333333"/>
                </a:solidFill>
              </a:rPr>
              <a:t>Pipeline UX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98279" y="4069077"/>
            <a:ext cx="118872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Dropdown picker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286999" y="4069077"/>
            <a:ext cx="173736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2E7D32"/>
                </a:solidFill>
              </a:rPr>
              <a:t>Two-panel table selector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83879" y="4215381"/>
            <a:ext cx="91440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1">
                <a:solidFill>
                  <a:srgbClr val="333333"/>
                </a:solidFill>
              </a:rPr>
              <a:t>Cluster UI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98279" y="4215381"/>
            <a:ext cx="118872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50% width card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286999" y="4215381"/>
            <a:ext cx="173736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2E7D32"/>
                </a:solidFill>
              </a:rPr>
              <a:t>Compact single-row bar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83879" y="4361685"/>
            <a:ext cx="91440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1">
                <a:solidFill>
                  <a:srgbClr val="333333"/>
                </a:solidFill>
              </a:rPr>
              <a:t>CDC/DLT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98279" y="4361685"/>
            <a:ext cx="118872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Basic watermark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286999" y="4361685"/>
            <a:ext cx="173736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2E7D32"/>
                </a:solidFill>
              </a:rPr>
              <a:t>CDC + DLT + Auto Loader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83879" y="4507989"/>
            <a:ext cx="91440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1">
                <a:solidFill>
                  <a:srgbClr val="333333"/>
                </a:solidFill>
              </a:rPr>
              <a:t>DQ Checks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098279" y="4507989"/>
            <a:ext cx="118872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Basic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286999" y="4507989"/>
            <a:ext cx="173736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2E7D32"/>
                </a:solidFill>
              </a:rPr>
              <a:t>12+ checks + DQ Score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183879" y="4654293"/>
            <a:ext cx="91440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1">
                <a:solidFill>
                  <a:srgbClr val="333333"/>
                </a:solidFill>
              </a:rPr>
              <a:t>Self-Healing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98279" y="4654293"/>
            <a:ext cx="118872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None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286999" y="4654293"/>
            <a:ext cx="173736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2E7D32"/>
                </a:solidFill>
              </a:rPr>
              <a:t>10+ auto-recovery actions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183879" y="4800597"/>
            <a:ext cx="91440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1">
                <a:solidFill>
                  <a:srgbClr val="333333"/>
                </a:solidFill>
              </a:rPr>
              <a:t>Schema Compare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098279" y="4800597"/>
            <a:ext cx="118872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None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286999" y="4800597"/>
            <a:ext cx="1737360" cy="14630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2E7D32"/>
                </a:solidFill>
              </a:rPr>
              <a:t>Drift detection + smart recs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183879" y="4946901"/>
            <a:ext cx="91440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1">
                <a:solidFill>
                  <a:srgbClr val="333333"/>
                </a:solidFill>
              </a:rPr>
              <a:t>Settings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098279" y="4946901"/>
            <a:ext cx="118872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666666"/>
                </a:solidFill>
              </a:rPr>
              <a:t>None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286999" y="4946901"/>
            <a:ext cx="1737360" cy="146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550" b="0">
                <a:solidFill>
                  <a:srgbClr val="2E7D32"/>
                </a:solidFill>
              </a:rPr>
              <a:t>Source DB + Metadata config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2880" y="6583680"/>
            <a:ext cx="1188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66666"/>
                </a:solidFill>
              </a:rPr>
              <a:t>SQL → Databricks Migration Studio v2.0  |  Complete feature changelog from v1 → v2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Migration Studio  —  14 UI Pages  •  Feature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548640"/>
            <a:ext cx="2240280" cy="237744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📊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804672"/>
            <a:ext cx="2240280" cy="795528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Pipeline health overview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Job status + exec metrics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Quick-access navigation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Total pipelines / jobs / 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42032" y="548640"/>
            <a:ext cx="2240280" cy="237744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🔄 MetadataFlow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42032" y="804672"/>
            <a:ext cx="2240280" cy="795528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Init metadata Delta tables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Load / Sync to Databricks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Auto-init from config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5 metadata tables managed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01184" y="548640"/>
            <a:ext cx="2240280" cy="237744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⚡ Pipeline Studio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01184" y="804672"/>
            <a:ext cx="2240280" cy="795528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Medallion architecture viz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Two-panel table selector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Quick Create (bulk)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Run on Databricks + rerun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548640"/>
            <a:ext cx="2240280" cy="237744"/>
          </a:xfrm>
          <a:prstGeom prst="roundRect">
            <a:avLst>
              <a:gd name="adj" fmla="val 8000"/>
            </a:avLst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📋 Job Manager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804672"/>
            <a:ext cx="2240280" cy="795528"/>
          </a:xfrm>
          <a:prstGeom prst="roundRect">
            <a:avLst>
              <a:gd name="adj" fmla="val 4000"/>
            </a:avLst>
          </a:prstGeom>
          <a:solidFill>
            <a:srgbClr val="FFF8E1"/>
          </a:solidFill>
          <a:ln w="1270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Create / update / delete jobs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Watermark management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Per-job rerun on fail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10s auto-refresh polling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19488" y="548640"/>
            <a:ext cx="2240280" cy="237744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🔧 Convert to PySpark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19488" y="804672"/>
            <a:ext cx="2240280" cy="795528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AI: OpenAI / Gemini / Claude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SP + View + UDF support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Multi-file export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Syntax-highlighted preview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" y="1709928"/>
            <a:ext cx="2240280" cy="237744"/>
          </a:xfrm>
          <a:prstGeom prst="roundRect">
            <a:avLst>
              <a:gd name="adj" fmla="val 8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🚀 Deploy Notebooks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" y="1965960"/>
            <a:ext cx="2240280" cy="795528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Batch upload to workspace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Path auto-create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Per-notebook status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Direct workspace URLs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42032" y="1709928"/>
            <a:ext cx="2240280" cy="237744"/>
          </a:xfrm>
          <a:prstGeom prst="roundRect">
            <a:avLst>
              <a:gd name="adj" fmla="val 800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📦 Unity Catalog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42032" y="1965960"/>
            <a:ext cx="2240280" cy="795528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Browse catalogs + schemas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Table preview (sample rows)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Custom SQL execution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Warehouse auto-filter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1184" y="1709928"/>
            <a:ext cx="2240280" cy="237744"/>
          </a:xfrm>
          <a:prstGeom prst="roundRect">
            <a:avLst>
              <a:gd name="adj" fmla="val 8000"/>
            </a:avLst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📤 Data Migration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01184" y="1965960"/>
            <a:ext cx="2240280" cy="795528"/>
          </a:xfrm>
          <a:prstGeom prst="roundRect">
            <a:avLst>
              <a:gd name="adj" fmla="val 4000"/>
            </a:avLst>
          </a:prstGeom>
          <a:solidFill>
            <a:srgbClr val="FBE9D0"/>
          </a:solidFill>
          <a:ln w="127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JDBC → Parquet → COPY INTO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Full + Incremental load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Parallel workers (1-8)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Per-table progress bars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0336" y="1709928"/>
            <a:ext cx="2240280" cy="237744"/>
          </a:xfrm>
          <a:prstGeom prst="roundRect">
            <a:avLst>
              <a:gd name="adj" fmla="val 8000"/>
            </a:avLst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🏗️ Medallion Arch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0336" y="1965960"/>
            <a:ext cx="2240280" cy="795528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 w="12700">
            <a:solidFill>
              <a:srgbClr val="607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Generate 6 notebooks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Standard + DLT mode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Multi-catalog support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Run Orchestrator as job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19488" y="1709928"/>
            <a:ext cx="2240280" cy="237744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🤖 Self-Healing Bot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19488" y="1965960"/>
            <a:ext cx="2240280" cy="795528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Error classification (8 types)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Auto-retry + backoff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Restore points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Rules engine + custom rules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" y="2871216"/>
            <a:ext cx="2240280" cy="237744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📈 Reports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" y="3127248"/>
            <a:ext cx="2240280" cy="795528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Job execution reports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Email notifications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Duration + row metrics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Success rate tracking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42032" y="2871216"/>
            <a:ext cx="2240280" cy="237744"/>
          </a:xfrm>
          <a:prstGeom prst="roundRect">
            <a:avLst>
              <a:gd name="adj" fmla="val 8000"/>
            </a:avLst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📍 Progress Tracker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42032" y="3127248"/>
            <a:ext cx="2240280" cy="795528"/>
          </a:xfrm>
          <a:prstGeom prst="roundRect">
            <a:avLst>
              <a:gd name="adj" fmla="val 4000"/>
            </a:avLst>
          </a:prstGeom>
          <a:solidFill>
            <a:srgbClr val="E8EAF6"/>
          </a:solidFill>
          <a:ln w="1270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7-step migration workflow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Step indicators + status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Current step highlight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End-to-end visibility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01184" y="2871216"/>
            <a:ext cx="2240280" cy="237744"/>
          </a:xfrm>
          <a:prstGeom prst="roundRect">
            <a:avLst>
              <a:gd name="adj" fmla="val 8000"/>
            </a:avLst>
          </a:prstGeom>
          <a:solidFill>
            <a:srgbClr val="AD1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🔐 Audit &amp; Compliance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01184" y="3127248"/>
            <a:ext cx="2240280" cy="795528"/>
          </a:xfrm>
          <a:prstGeom prst="roundRect">
            <a:avLst>
              <a:gd name="adj" fmla="val 4000"/>
            </a:avLst>
          </a:prstGeom>
          <a:solidFill>
            <a:srgbClr val="FCE4EC"/>
          </a:solidFill>
          <a:ln w="12700">
            <a:solidFill>
              <a:srgbClr val="AD1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Event log with timestamps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Severity: INFO→CRITICAL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Filter by time + type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Compliance dashboard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0336" y="2871216"/>
            <a:ext cx="2240280" cy="237744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✨ Data Quality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60336" y="3127248"/>
            <a:ext cx="2240280" cy="795528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DQ rules library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12+ quality checks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DQ Score + __dq_metrics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Quality trend charts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19488" y="2871216"/>
            <a:ext cx="2240280" cy="237744"/>
          </a:xfrm>
          <a:prstGeom prst="roundRect">
            <a:avLst>
              <a:gd name="adj" fmla="val 8000"/>
            </a:avLst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🔀 Schema Compare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19488" y="3127248"/>
            <a:ext cx="2240280" cy="795528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Source vs target compare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Column drift detection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Type mismatch alerts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Smart recommendations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2880" y="4032504"/>
            <a:ext cx="2240280" cy="237744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⚙️ Settings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2880" y="4288536"/>
            <a:ext cx="2240280" cy="9144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Databricks host + token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Source DB connection + test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Metadata catalog/schema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CDC/DLT mode config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Auto-saves to deployconfig.json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42032" y="4032504"/>
            <a:ext cx="2240280" cy="237744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📐 Reconciliation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42032" y="4288536"/>
            <a:ext cx="2240280" cy="91440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Source vs Bronze validation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SUM per numeric column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PASS / WARN / FAIL status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Dedicated recon catalog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Failure investigation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01184" y="4032504"/>
            <a:ext cx="2240280" cy="237744"/>
          </a:xfrm>
          <a:prstGeom prst="roundRect">
            <a:avLst>
              <a:gd name="adj" fmla="val 800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📊 deployconfig.json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01184" y="4288536"/>
            <a:ext cx="2240280" cy="91440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databricks_host + token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source (server, db, user, pass)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catalogs (bronze, silver, volumes)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metadata_catalog / schema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cdc_mode + dlt_mode + primary_keys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60336" y="4032504"/>
            <a:ext cx="4599432" cy="237744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Pipeline Execution Modes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60336" y="4288536"/>
            <a:ext cx="4599432" cy="91440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Standard PySpark Mode (3 stages):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  00_Orchestrator → 01_Extract → 02_Bronze → 03_Silver → 04_Recon → 05_Log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DLT Mode (2 stages):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  00_Orchestrator → 01_Extract → 02_DLT_Pipeline (Auto Loader + expectations)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CDC: Change Tracking | Watermark-based incremental | Full load (truncate)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" y="6583680"/>
            <a:ext cx="1188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66666"/>
                </a:solidFill>
              </a:rPr>
              <a:t>SQL → Databricks Migration Studio v2.0  |  14 Feature Pages + Settings + Reconciliation  |  85+ API Endpoints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