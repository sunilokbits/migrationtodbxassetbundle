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0292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600" b="1">
                <a:solidFill>
                  <a:srgbClr val="FFFFFF"/>
                </a:solidFill>
              </a:rPr>
              <a:t>Reference Architecture  --  SQL Server to Databricks Unity Catalog  |  Metadata-Driven Medallion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" y="640080"/>
            <a:ext cx="1463040" cy="32004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Azure SQL Server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987552"/>
            <a:ext cx="1463040" cy="868680"/>
          </a:xfrm>
          <a:prstGeom prst="roundRect">
            <a:avLst>
              <a:gd name="adj" fmla="val 4000"/>
            </a:avLst>
          </a:prstGeom>
          <a:solidFill>
            <a:srgbClr val="E3F2FD"/>
          </a:solidFill>
          <a:ln w="127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HR Database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-------------------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DimDepartment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DimEmployee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DimJobRole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DimLocation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DimDate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91640" y="1143000"/>
            <a:ext cx="164592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Isosceles Triangle 5"/>
          <p:cNvSpPr/>
          <p:nvPr/>
        </p:nvSpPr>
        <p:spPr>
          <a:xfrm rot="5400000">
            <a:off x="1837944" y="108813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965960" y="640080"/>
            <a:ext cx="1691640" cy="32004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Flask AI Workflow Mgr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987552"/>
            <a:ext cx="1691640" cy="8686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 pipeline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SP to PySpark (AI)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 gen &amp; deploy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Databricks job submit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Background run polling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Self-healing recovery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03320" y="1143000"/>
            <a:ext cx="164591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Isosceles Triangle 9"/>
          <p:cNvSpPr/>
          <p:nvPr/>
        </p:nvSpPr>
        <p:spPr>
          <a:xfrm rot="5400000">
            <a:off x="3849623" y="108813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822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>
                <a:solidFill>
                  <a:srgbClr val="666666"/>
                </a:solidFill>
              </a:rPr>
              <a:t>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594360"/>
            <a:ext cx="8001000" cy="3017520"/>
          </a:xfrm>
          <a:prstGeom prst="roundRect">
            <a:avLst>
              <a:gd name="adj" fmla="val 2000"/>
            </a:avLst>
          </a:prstGeom>
          <a:solidFill>
            <a:srgbClr val="FDFDFD"/>
          </a:solidFill>
          <a:ln w="25400">
            <a:solidFill>
              <a:srgbClr val="FF3E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69079" y="6217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3E21"/>
                </a:solidFill>
              </a:rPr>
              <a:t>Databricks Unity Catalog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79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dev_volumes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79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UC Volumes (Landing)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79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607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/Volumes/dev_volumes/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  hr/landing/{table}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Format: Parquet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06439" y="1444752"/>
            <a:ext cx="73152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5861303" y="1389888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8931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8931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Bronze (Raw + Audit)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1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BE9D0"/>
          </a:solidFill>
          <a:ln w="12700"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bronze.hr.{table}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__src_file, __load_ts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+ __batch_id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680959" y="1444752"/>
            <a:ext cx="73152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Isosceles Triangle 22"/>
          <p:cNvSpPr/>
          <p:nvPr/>
        </p:nvSpPr>
        <p:spPr>
          <a:xfrm rot="5400000">
            <a:off x="7735823" y="1389888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86383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6383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Silver (Cleansed)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6383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ECEFF1"/>
          </a:solidFill>
          <a:ln w="12700">
            <a:solidFill>
              <a:srgbClr val="AAA9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silver.hr.{table}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Tables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Dedup + null handling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Type cast + DQ checks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555479" y="1444752"/>
            <a:ext cx="73152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Isosceles Triangle 27"/>
          <p:cNvSpPr/>
          <p:nvPr/>
        </p:nvSpPr>
        <p:spPr>
          <a:xfrm rot="5400000">
            <a:off x="9610343" y="1389888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38359" y="896112"/>
            <a:ext cx="1691640" cy="256032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333333"/>
                </a:solidFill>
              </a:rPr>
              <a:t>gold (future)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38359" y="1170432"/>
            <a:ext cx="1691640" cy="1828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Gold (Business KPIs)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38359" y="1371600"/>
            <a:ext cx="1691640" cy="484632"/>
          </a:xfrm>
          <a:prstGeom prst="roundRect">
            <a:avLst>
              <a:gd name="adj" fmla="val 4000"/>
            </a:avLst>
          </a:prstGeom>
          <a:solidFill>
            <a:srgbClr val="FFF8E1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Aggregated datasets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BI-ready views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Power BI / Tableau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114799" y="1965960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Metadata Delta Tables  (Unity Catalog)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14799" y="2221992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wf_pipeline_metadata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78423" y="2221992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wf_job_metadata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42047" y="2221992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wf_run_history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05671" y="2221992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wf_watermark_metadata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369295" y="2221992"/>
            <a:ext cx="1472184" cy="27432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650" b="0">
                <a:solidFill>
                  <a:srgbClr val="333333"/>
                </a:solidFill>
              </a:rPr>
              <a:t>wf_source_tables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799" y="2560320"/>
            <a:ext cx="7726680" cy="228600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Auto-Generated Metadata Notebooks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799" y="2816352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00_Meta_Orchestrator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14799" y="3035808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Reads pipeline metadata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Runs E&gt;B&gt;S per table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Breaks on FAILED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43599.0" y="3063240"/>
            <a:ext cx="27432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Isosceles Triangle 41"/>
          <p:cNvSpPr/>
          <p:nvPr/>
        </p:nvSpPr>
        <p:spPr>
          <a:xfrm rot="5400000">
            <a:off x="5952743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6080759" y="2816352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01_Meta_Extract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80759" y="3035808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JDBC to Azure SQL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Watermark filtering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Write Parquet to Volumes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909559.0" y="3063240"/>
            <a:ext cx="27432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/>
          <p:cNvSpPr/>
          <p:nvPr/>
        </p:nvSpPr>
        <p:spPr>
          <a:xfrm rot="5400000">
            <a:off x="7918703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046719" y="2816352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02_Meta_Bronze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19" y="3035808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Read landing Parquet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Add audit columns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MERGE to bronze Delta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9875519.0" y="3063240"/>
            <a:ext cx="27432.0" cy="0"/>
          </a:xfrm>
          <a:prstGeom prst="line">
            <a:avLst/>
          </a:prstGeom>
          <a:ln w="25400">
            <a:solidFill>
              <a:srgbClr val="0096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Isosceles Triangle 49"/>
          <p:cNvSpPr/>
          <p:nvPr/>
        </p:nvSpPr>
        <p:spPr>
          <a:xfrm rot="5400000">
            <a:off x="9884663" y="3008376"/>
            <a:ext cx="128016" cy="109728"/>
          </a:xfrm>
          <a:prstGeom prst="triangl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012679" y="2816352"/>
            <a:ext cx="1828800" cy="201168"/>
          </a:xfrm>
          <a:prstGeom prst="roundRect">
            <a:avLst>
              <a:gd name="adj" fmla="val 8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03_Meta_Silver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012679" y="3035808"/>
            <a:ext cx="1828800" cy="4114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Read bronze Delta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Dedup + cleanse</a:t>
            </a:r>
          </a:p>
          <a:p>
            <a:pPr>
              <a:spcAft>
                <a:spcPts val="100"/>
              </a:spcAft>
            </a:pPr>
            <a:r>
              <a:rPr sz="650">
                <a:solidFill>
                  <a:srgbClr val="333333"/>
                </a:solidFill>
              </a:rPr>
              <a:t>MERGE to silver Delta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82880" y="3794760"/>
            <a:ext cx="1783080" cy="274320"/>
          </a:xfrm>
          <a:prstGeom prst="roundRect">
            <a:avLst>
              <a:gd name="adj" fmla="val 8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AI SP to PySpark Converter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" y="4096512"/>
            <a:ext cx="1783080" cy="502920"/>
          </a:xfrm>
          <a:prstGeom prst="roundRect">
            <a:avLst>
              <a:gd name="adj" fmla="val 4000"/>
            </a:avLst>
          </a:prstGeom>
          <a:solidFill>
            <a:srgbClr val="FFF3E0"/>
          </a:solidFill>
          <a:ln w="1270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OpenAI / Gemini / Claude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Auto-converts SQL SPs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Generates PySpark code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82880" y="4709160"/>
            <a:ext cx="1783080" cy="274320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1">
                <a:solidFill>
                  <a:srgbClr val="FFFFFF"/>
                </a:solidFill>
              </a:rPr>
              <a:t>Self-Healing Bot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82880" y="5010912"/>
            <a:ext cx="1783080" cy="50292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Auto-retry failed runs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AI-powered error fixing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Notebook auto-repair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24028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Security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4028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PAT tokens for API auth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ODBC-escaped credentials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Encrypted JDBC (TLS)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UC RBAC per catalog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57200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Governance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Unity Catalog metadata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Catalog-level isolation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versioning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Full audit trail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90372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Reliability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90372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F3E5F5"/>
          </a:solidFill>
          <a:ln w="12700"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All paths have try/except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Break on first failure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Error payloads captured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Incremental watermarks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235440" y="3794760"/>
            <a:ext cx="2194560" cy="256032"/>
          </a:xfrm>
          <a:prstGeom prst="roundRect">
            <a:avLst>
              <a:gd name="adj" fmla="val 8000"/>
            </a:avLst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50" b="1">
                <a:solidFill>
                  <a:srgbClr val="FFFFFF"/>
                </a:solidFill>
              </a:rPr>
              <a:t>Scalability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235440" y="4069080"/>
            <a:ext cx="2194560" cy="640080"/>
          </a:xfrm>
          <a:prstGeom prst="roundRect">
            <a:avLst>
              <a:gd name="adj" fmla="val 4000"/>
            </a:avLst>
          </a:prstGeom>
          <a:solidFill>
            <a:srgbClr val="E0F2F1"/>
          </a:solidFill>
          <a:ln w="127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Metadata-driven config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Spark distributed proc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Delta MERGE upserts</a:t>
            </a:r>
          </a:p>
          <a:p>
            <a:pPr>
              <a:spcAft>
                <a:spcPts val="100"/>
              </a:spcAft>
            </a:pPr>
            <a:r>
              <a:rPr sz="700">
                <a:solidFill>
                  <a:srgbClr val="333333"/>
                </a:solidFill>
              </a:rPr>
              <a:t>Extensible to Gold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82880" y="4800600"/>
            <a:ext cx="502920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82880" y="5056632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Azure SQL Server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920240" y="5056632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HR source database (5 dimension tables)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82880" y="5257800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Python / Flask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920240" y="5257800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Web UI: pipeline config, deploy, monitor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82880" y="5458968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Databricks REST API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920240" y="5458968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Job submit (runs/submit) + polling (runs/get)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82880" y="5660136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UC Volumes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1920240" y="5660136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Landing zone: Parquet via JDBC extract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82880" y="5861304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Delta Lake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920240" y="5861304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Bronze &amp; Silver managed tables (MERGE)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82880" y="6062472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ODBC Driver 17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920240" y="6062472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Local schema discovery &amp; data preview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82880" y="6263640"/>
            <a:ext cx="173736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1">
                <a:solidFill>
                  <a:srgbClr val="333333"/>
                </a:solidFill>
              </a:rPr>
              <a:t>OpenAI/Gemini/Claude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920240" y="6263640"/>
            <a:ext cx="3291840" cy="201168"/>
          </a:xfrm>
          <a:prstGeom prst="roundRect">
            <a:avLst>
              <a:gd name="adj" fmla="val 8000"/>
            </a:avLst>
          </a:prstGeom>
          <a:solidFill>
            <a:srgbClr val="E3F2FD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l"/>
            <a:r>
              <a:rPr sz="650" b="0">
                <a:solidFill>
                  <a:srgbClr val="333333"/>
                </a:solidFill>
              </a:rPr>
              <a:t>SP to PySpark AI conversion engine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5486400" y="4800600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623560" y="512064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Azure
SQL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6446520" y="5349240"/>
            <a:ext cx="54864" cy="0"/>
          </a:xfrm>
          <a:prstGeom prst="line">
            <a:avLst/>
          </a:prstGeom>
          <a:ln w="254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Isosceles Triangle 82"/>
          <p:cNvSpPr/>
          <p:nvPr/>
        </p:nvSpPr>
        <p:spPr>
          <a:xfrm rot="5400000">
            <a:off x="6483096" y="5294376"/>
            <a:ext cx="128016" cy="109728"/>
          </a:xfrm>
          <a:prstGeom prst="triangl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6611112" y="512064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JDBC
Extract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7434072" y="5349240"/>
            <a:ext cx="54864" cy="0"/>
          </a:xfrm>
          <a:prstGeom prst="line">
            <a:avLst/>
          </a:prstGeom>
          <a:ln w="25400">
            <a:solidFill>
              <a:srgbClr val="7B1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Isosceles Triangle 85"/>
          <p:cNvSpPr/>
          <p:nvPr/>
        </p:nvSpPr>
        <p:spPr>
          <a:xfrm rot="5400000">
            <a:off x="7470648" y="5294376"/>
            <a:ext cx="128016" cy="109728"/>
          </a:xfrm>
          <a:prstGeom prst="triangle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7598664" y="512064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UC Volumes
Landing</a:t>
            </a:r>
          </a:p>
        </p:txBody>
      </p:sp>
      <p:cxnSp>
        <p:nvCxnSpPr>
          <p:cNvPr id="88" name="Connector 87"/>
          <p:cNvCxnSpPr/>
          <p:nvPr/>
        </p:nvCxnSpPr>
        <p:spPr>
          <a:xfrm>
            <a:off x="8421624" y="5349240"/>
            <a:ext cx="54864" cy="0"/>
          </a:xfrm>
          <a:prstGeom prst="line">
            <a:avLst/>
          </a:prstGeom>
          <a:ln w="25400">
            <a:solidFill>
              <a:srgbClr val="607D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Isosceles Triangle 88"/>
          <p:cNvSpPr/>
          <p:nvPr/>
        </p:nvSpPr>
        <p:spPr>
          <a:xfrm rot="5400000">
            <a:off x="8458200" y="5294376"/>
            <a:ext cx="128016" cy="109728"/>
          </a:xfrm>
          <a:prstGeom prst="triangle">
            <a:avLst/>
          </a:prstGeom>
          <a:solidFill>
            <a:srgbClr val="607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8586216" y="512064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Bronze
Delta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9409176" y="5349240"/>
            <a:ext cx="54864" cy="0"/>
          </a:xfrm>
          <a:prstGeom prst="line">
            <a:avLst/>
          </a:prstGeom>
          <a:ln w="25400">
            <a:solidFill>
              <a:srgbClr val="CD7F3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Isosceles Triangle 91"/>
          <p:cNvSpPr/>
          <p:nvPr/>
        </p:nvSpPr>
        <p:spPr>
          <a:xfrm rot="5400000">
            <a:off x="9445752" y="5294376"/>
            <a:ext cx="128016" cy="109728"/>
          </a:xfrm>
          <a:prstGeom prst="triangle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9573768" y="512064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FFFFFF"/>
                </a:solidFill>
              </a:rPr>
              <a:t>Silver
Delta</a:t>
            </a:r>
          </a:p>
        </p:txBody>
      </p:sp>
      <p:cxnSp>
        <p:nvCxnSpPr>
          <p:cNvPr id="94" name="Connector 93"/>
          <p:cNvCxnSpPr/>
          <p:nvPr/>
        </p:nvCxnSpPr>
        <p:spPr>
          <a:xfrm>
            <a:off x="10396728" y="5349240"/>
            <a:ext cx="54864" cy="0"/>
          </a:xfrm>
          <a:prstGeom prst="line">
            <a:avLst/>
          </a:prstGeom>
          <a:ln w="25400">
            <a:solidFill>
              <a:srgbClr val="AAA9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Isosceles Triangle 94"/>
          <p:cNvSpPr/>
          <p:nvPr/>
        </p:nvSpPr>
        <p:spPr>
          <a:xfrm rot="5400000">
            <a:off x="10433304" y="5294376"/>
            <a:ext cx="128016" cy="109728"/>
          </a:xfrm>
          <a:prstGeom prst="triangle">
            <a:avLst/>
          </a:prstGeom>
          <a:solidFill>
            <a:srgbClr val="AAA9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0561320" y="512064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700" b="1">
                <a:solidFill>
                  <a:srgbClr val="333333"/>
                </a:solidFill>
              </a:rPr>
              <a:t>Gold
(Future)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5486400" y="5669280"/>
            <a:ext cx="6492240" cy="228600"/>
          </a:xfrm>
          <a:prstGeom prst="roundRect">
            <a:avLst>
              <a:gd name="adj" fmla="val 8000"/>
            </a:avLst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900" b="1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623560" y="592531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Gold Layer: aggregated KPIs for BI dashboards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23560" y="610819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Secret Mgmt: Databricks Secrets / Azure Key Vault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23560" y="629107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CI/CD: Azure DevOps / GitHub Actions notebook deploy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623560" y="647395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DQ Framework: Great Expectations at Silver layer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623560" y="6656832"/>
            <a:ext cx="62179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333333"/>
                </a:solidFill>
              </a:rPr>
              <a:t>Monitoring: Azure Monitor / Databricks SQL Alerts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82880" y="6583680"/>
            <a:ext cx="1188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666666"/>
                </a:solidFill>
              </a:rPr>
              <a:t>AI Workflow Manager  |  Automated SP Migration Utility  |  Metadata-Driven Medallion Architecture  |  Multi-Catalog Design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