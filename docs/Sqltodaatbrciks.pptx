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279" r:id="rId3"/>
    <p:sldId id="286" r:id="rId4"/>
    <p:sldId id="287" r:id="rId5"/>
    <p:sldId id="285" r:id="rId6"/>
    <p:sldId id="256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57" r:id="rId17"/>
    <p:sldId id="258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bg>
      <p:bgPr>
        <a:solidFill>
          <a:schemeClr val="tx1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holding a tablet&#10;&#10;AI-generated content may be incorrect.">
            <a:extLst>
              <a:ext uri="{FF2B5EF4-FFF2-40B4-BE49-F238E27FC236}">
                <a16:creationId xmlns:a16="http://schemas.microsoft.com/office/drawing/2014/main" id="{A6D7D0E2-FF0D-03CD-A6AC-B087631A7D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9BED8C5-21D0-5E95-3E11-6796136B97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587" y="449687"/>
            <a:ext cx="2322551" cy="853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685A90-3EA4-42E0-566A-4DCF384CAF44}"/>
              </a:ext>
            </a:extLst>
          </p:cNvPr>
          <p:cNvSpPr txBox="1"/>
          <p:nvPr userDrawn="1"/>
        </p:nvSpPr>
        <p:spPr>
          <a:xfrm>
            <a:off x="11480257" y="6427650"/>
            <a:ext cx="859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1200" b="0" i="0" smtClean="0">
                <a:solidFill>
                  <a:srgbClr val="E0E0E0"/>
                </a:solidFill>
                <a:latin typeface="+mn-lt"/>
                <a:cs typeface="Verdana"/>
              </a:rPr>
              <a:t>‹#›</a:t>
            </a:fld>
            <a:endParaRPr lang="en-US" sz="1200" b="0" i="0" dirty="0" err="1">
              <a:solidFill>
                <a:srgbClr val="E0E0E0"/>
              </a:solidFill>
              <a:latin typeface="+mn-lt"/>
              <a:cs typeface="Verdan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152F7AF-244E-897D-1101-54321DAF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363" y="1575840"/>
            <a:ext cx="5640788" cy="1745864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5067" b="1" i="0" spc="-173" baseline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1FA0630-F5C6-7401-D8E1-EC95BB2B9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363" y="3357880"/>
            <a:ext cx="5640787" cy="4812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 spc="0" baseline="0">
                <a:solidFill>
                  <a:srgbClr val="000000"/>
                </a:solidFill>
                <a:latin typeface="+mn-lt"/>
                <a:cs typeface="Verdana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CD76FB51-A1BA-BF6E-5CC2-E90971301149}"/>
              </a:ext>
            </a:extLst>
          </p:cNvPr>
          <p:cNvSpPr txBox="1">
            <a:spLocks/>
          </p:cNvSpPr>
          <p:nvPr userDrawn="1"/>
        </p:nvSpPr>
        <p:spPr>
          <a:xfrm>
            <a:off x="319772" y="6509003"/>
            <a:ext cx="4876800" cy="164148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1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8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800" b="0" i="1" kern="1200" dirty="0">
                <a:solidFill>
                  <a:srgbClr val="8C8C8C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8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800" b="0" i="1" dirty="0">
              <a:solidFill>
                <a:srgbClr val="8C8C8C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982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pink spots&#10;&#10;AI-generated content may be incorrect.">
            <a:extLst>
              <a:ext uri="{FF2B5EF4-FFF2-40B4-BE49-F238E27FC236}">
                <a16:creationId xmlns:a16="http://schemas.microsoft.com/office/drawing/2014/main" id="{4FBB883D-2A4C-9154-1EF6-345BF82858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91867" y="1"/>
            <a:ext cx="5300133" cy="4703988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73312" y="6547105"/>
            <a:ext cx="2804160" cy="164148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1C723F17-201A-79E8-D3AE-1886428CA1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237" y="6370320"/>
            <a:ext cx="1327171" cy="487680"/>
          </a:xfrm>
          <a:prstGeom prst="rect">
            <a:avLst/>
          </a:prstGeom>
        </p:spPr>
      </p:pic>
      <p:sp>
        <p:nvSpPr>
          <p:cNvPr id="10" name="Holder 2">
            <a:extLst>
              <a:ext uri="{FF2B5EF4-FFF2-40B4-BE49-F238E27FC236}">
                <a16:creationId xmlns:a16="http://schemas.microsoft.com/office/drawing/2014/main" id="{0113C8FD-4E9B-8BDA-4110-C3A9B26C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92691"/>
            <a:ext cx="11338560" cy="86847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933" b="1" spc="-107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BCB9191-8441-7969-6BAA-2EF0BBB8A4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519582"/>
            <a:ext cx="11338560" cy="4703988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1pPr>
            <a:lvl2pPr marL="505834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2pPr>
            <a:lvl3pPr marL="783072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3pPr>
            <a:lvl4pPr marL="1060312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4pPr>
            <a:lvl5pPr marL="1337551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97498B6-84F0-22B7-58EF-D66D9CCFE0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2337" y="322825"/>
            <a:ext cx="4159972" cy="164148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1067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74B6CD8D-FC4F-199B-700C-ECAD82A6E0E7}"/>
              </a:ext>
            </a:extLst>
          </p:cNvPr>
          <p:cNvSpPr txBox="1">
            <a:spLocks/>
          </p:cNvSpPr>
          <p:nvPr userDrawn="1"/>
        </p:nvSpPr>
        <p:spPr>
          <a:xfrm>
            <a:off x="2013936" y="6547103"/>
            <a:ext cx="4876800" cy="164148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8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8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8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8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387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4E7CE-2F78-D4E9-9942-1EC2BDF05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363" y="1575840"/>
            <a:ext cx="6143397" cy="1745864"/>
          </a:xfrm>
        </p:spPr>
        <p:txBody>
          <a:bodyPr/>
          <a:lstStyle/>
          <a:p>
            <a:r>
              <a:rPr lang="en-US" dirty="0" err="1"/>
              <a:t>DBx</a:t>
            </a:r>
            <a:r>
              <a:rPr lang="en-US" dirty="0"/>
              <a:t> Migration Suite </a:t>
            </a:r>
          </a:p>
        </p:txBody>
      </p:sp>
    </p:spTree>
    <p:extLst>
      <p:ext uri="{BB962C8B-B14F-4D97-AF65-F5344CB8AC3E}">
        <p14:creationId xmlns:p14="http://schemas.microsoft.com/office/powerpoint/2010/main" val="70557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80F169-1F6E-3727-F0C1-FA537B4E2F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808112-CE4E-9347-D00A-7AD5FDF0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95" y="1"/>
            <a:ext cx="11338560" cy="868471"/>
          </a:xfrm>
        </p:spPr>
        <p:txBody>
          <a:bodyPr/>
          <a:lstStyle/>
          <a:p>
            <a:r>
              <a:rPr lang="en-GB" dirty="0">
                <a:solidFill>
                  <a:schemeClr val="accent4"/>
                </a:solidFill>
              </a:rPr>
              <a:t>Medallion Architecture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575CCC0-9DBF-249D-B7CF-715B4C13CFBE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1012457" y="1130409"/>
          <a:ext cx="9993442" cy="3833088"/>
        </p:xfrm>
        <a:graphic>
          <a:graphicData uri="http://schemas.openxmlformats.org/drawingml/2006/table">
            <a:tbl>
              <a:tblPr firstRow="1">
                <a:tableStyleId>{1FECB4D8-DB02-4DC6-A0A2-4F2EBAE1DC90}</a:tableStyleId>
              </a:tblPr>
              <a:tblGrid>
                <a:gridCol w="1449049">
                  <a:extLst>
                    <a:ext uri="{9D8B030D-6E8A-4147-A177-3AD203B41FA5}">
                      <a16:colId xmlns:a16="http://schemas.microsoft.com/office/drawing/2014/main" val="3759845087"/>
                    </a:ext>
                  </a:extLst>
                </a:gridCol>
                <a:gridCol w="1858780">
                  <a:extLst>
                    <a:ext uri="{9D8B030D-6E8A-4147-A177-3AD203B41FA5}">
                      <a16:colId xmlns:a16="http://schemas.microsoft.com/office/drawing/2014/main" val="87406413"/>
                    </a:ext>
                  </a:extLst>
                </a:gridCol>
                <a:gridCol w="2148589">
                  <a:extLst>
                    <a:ext uri="{9D8B030D-6E8A-4147-A177-3AD203B41FA5}">
                      <a16:colId xmlns:a16="http://schemas.microsoft.com/office/drawing/2014/main" val="2751283564"/>
                    </a:ext>
                  </a:extLst>
                </a:gridCol>
                <a:gridCol w="2186155">
                  <a:extLst>
                    <a:ext uri="{9D8B030D-6E8A-4147-A177-3AD203B41FA5}">
                      <a16:colId xmlns:a16="http://schemas.microsoft.com/office/drawing/2014/main" val="130906420"/>
                    </a:ext>
                  </a:extLst>
                </a:gridCol>
                <a:gridCol w="2350869">
                  <a:extLst>
                    <a:ext uri="{9D8B030D-6E8A-4147-A177-3AD203B41FA5}">
                      <a16:colId xmlns:a16="http://schemas.microsoft.com/office/drawing/2014/main" val="2952335153"/>
                    </a:ext>
                  </a:extLst>
                </a:gridCol>
              </a:tblGrid>
              <a:tr h="318916"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BRONZE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SILVER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GOLD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PLATINUM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486058"/>
                  </a:ext>
                </a:extLst>
              </a:tr>
              <a:tr h="393599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Ingest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Cleanse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Transform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Consolidate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563730"/>
                  </a:ext>
                </a:extLst>
              </a:tr>
              <a:tr h="393599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Role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Auditable Source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Clean Mirror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Integration Hub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The Presentation Mart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109727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Data Engineers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Ingestion &amp; Audit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Ingestion &amp; Archiving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Transformation &amp; Quality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Define, Build, Optimize &amp; Deliver Models, Visuals &amp; Prompt Response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986066"/>
                  </a:ext>
                </a:extLst>
              </a:tr>
              <a:tr h="53348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Data Scientists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Deep Forensic Investigation</a:t>
                      </a:r>
                      <a:endParaRPr lang="en-US" sz="120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Exploratory Data Analysis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Exploration &amp; Feature Engineering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Model Training &amp; Business  Consumption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330512"/>
                  </a:ext>
                </a:extLst>
              </a:tr>
              <a:tr h="49494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 Engineers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Not usable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Deep Data Discovery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Building Training Datasets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Enable AI, PBI, ML use cases</a:t>
                      </a: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809504"/>
                  </a:ext>
                </a:extLst>
              </a:tr>
              <a:tr h="49967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Report Engineers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Not usable</a:t>
                      </a:r>
                      <a:endParaRPr lang="en-US" sz="120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usable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Query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</a:rPr>
                        <a:t>Build dashboards &amp; visuals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0633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Business Analysis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Not usable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usable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Diagnostic analysis, why something happened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Proactive, predictive, automated decision making &amp; forecasting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238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02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Reference Architecture  --  SQL Server to Databricks Unity Catalog  |  Metadata-Driven Medallion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640080"/>
            <a:ext cx="1463040" cy="32004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Azure SQL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87552"/>
            <a:ext cx="1463040" cy="86868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HR Database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-------------------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DimDepartment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DimEmployee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DimJobRole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DimLocation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DimDate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91640" y="1143000"/>
            <a:ext cx="164592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1837944" y="1088136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965960" y="640080"/>
            <a:ext cx="1691640" cy="32004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Flask AI Workflow Mgr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987552"/>
            <a:ext cx="1691640" cy="86868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Metadata pipeline config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SP to PySpark (AI)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Notebook gen &amp; deploy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Databricks job submit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Background run polling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Self-healing recovery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03320" y="1143000"/>
            <a:ext cx="164591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3849623" y="1088136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8229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</a:rPr>
              <a:t>REST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594360"/>
            <a:ext cx="8001000" cy="3017520"/>
          </a:xfrm>
          <a:prstGeom prst="roundRect">
            <a:avLst>
              <a:gd name="adj" fmla="val 2000"/>
            </a:avLst>
          </a:prstGeom>
          <a:solidFill>
            <a:srgbClr val="FDFDFD"/>
          </a:solidFill>
          <a:ln w="254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69079" y="6217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3E21"/>
                </a:solidFill>
              </a:rPr>
              <a:t>Databricks Unity Catalog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799" y="896112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dev_volumes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799" y="1170432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UC Volumes (Landing)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799" y="1371600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/Volumes/dev_volumes/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hr/landing/{table}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Format: Parquet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06439" y="1444752"/>
            <a:ext cx="73152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5861303" y="1389888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89319" y="896112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170432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Bronze (Raw + Audit)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19" y="1371600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bronze.hr.{table}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+ __src_file, __load_ts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+ __batch_id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80959" y="1444752"/>
            <a:ext cx="73152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7735823" y="1389888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863839" y="896112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39" y="1170432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Silver (Cleansed)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39" y="1371600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silver.hr.{table}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Dedup + null handling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Type cast + DQ checks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55479" y="1444752"/>
            <a:ext cx="73152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9610343" y="1389888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738359" y="896112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333333"/>
                </a:solidFill>
              </a:rPr>
              <a:t>gold (future)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59" y="1170432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Gold (Business KPIs)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59" y="1371600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Aggregated datasets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BI-ready views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Power BI / Tableau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799" y="1965960"/>
            <a:ext cx="7726680" cy="2286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Metadata Delta Tables  (Unity Catalog)  +  Reconciliation &amp; Logging Catalogs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799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00" b="0">
                <a:solidFill>
                  <a:srgbClr val="333333"/>
                </a:solidFill>
              </a:rPr>
              <a:t>wf_pipeline_metadata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31673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00" b="0">
                <a:solidFill>
                  <a:srgbClr val="333333"/>
                </a:solidFill>
              </a:rPr>
              <a:t>wf_job_metadata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48547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00" b="0">
                <a:solidFill>
                  <a:srgbClr val="333333"/>
                </a:solidFill>
              </a:rPr>
              <a:t>wf_run_history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65421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00" b="0">
                <a:solidFill>
                  <a:srgbClr val="333333"/>
                </a:solidFill>
              </a:rPr>
              <a:t>wf_watermark_metadata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82296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00" b="0">
                <a:solidFill>
                  <a:srgbClr val="333333"/>
                </a:solidFill>
              </a:rPr>
              <a:t>wf_source_tables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9170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00" b="0">
                <a:solidFill>
                  <a:srgbClr val="333333"/>
                </a:solidFill>
              </a:rPr>
              <a:t>reconciliation.*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816044" y="2221992"/>
            <a:ext cx="1025434" cy="2743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00" b="0">
                <a:solidFill>
                  <a:srgbClr val="333333"/>
                </a:solidFill>
              </a:rPr>
              <a:t>loggingdetails.*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799" y="2560320"/>
            <a:ext cx="7726680" cy="228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Auto-Generated Metadata Notebooks  (Standard PySpark + DLT Mode)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799" y="2816352"/>
            <a:ext cx="119634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333333"/>
                </a:solidFill>
              </a:rPr>
              <a:t>00_Orchestrator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799" y="3035808"/>
            <a:ext cx="119634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Chains all stages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Breaks on FAILED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DLT or Spark mode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0" y="3063240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5292851" y="300837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420867" y="2816352"/>
            <a:ext cx="119634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333333"/>
                </a:solidFill>
              </a:rPr>
              <a:t>01_Extract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20867" y="3035808"/>
            <a:ext cx="119634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JDBC to Azure SQL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Watermark filtering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Parquet → Volumes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0" y="3063240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6598919" y="300837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726935" y="2816352"/>
            <a:ext cx="119634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333333"/>
                </a:solidFill>
              </a:rPr>
              <a:t>02_Bronze / DLT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26935" y="3035808"/>
            <a:ext cx="119634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Landing → Bronze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Audit cols + DQ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DLT Auto Loader opt.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0" y="3063240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7904987" y="300837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033003" y="2816352"/>
            <a:ext cx="119634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333333"/>
                </a:solidFill>
              </a:rPr>
              <a:t>03_Silver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33003" y="3035808"/>
            <a:ext cx="119634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Bronze → Silver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Dedup + cleanse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7-check DQ scoring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0" y="3063240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9211055" y="300837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339071" y="2816352"/>
            <a:ext cx="119634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333333"/>
                </a:solidFill>
              </a:rPr>
              <a:t>04_Reconciliation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39071" y="3035808"/>
            <a:ext cx="119634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Source vs Bronze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SUM per num col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PASS/WARN/FAIL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0" y="3063240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10517123" y="300837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10645139" y="2816352"/>
            <a:ext cx="119634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0" b="1">
                <a:solidFill>
                  <a:srgbClr val="333333"/>
                </a:solidFill>
              </a:rPr>
              <a:t>05_ExecutionLog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645139" y="3035808"/>
            <a:ext cx="119634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Audit trail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Per-job results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Logging catalog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82880" y="3794760"/>
            <a:ext cx="1783080" cy="27432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Deploy Infrastructure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82880" y="4096512"/>
            <a:ext cx="1783080" cy="77724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AutoInfraCreation (Azure SDK)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1. Storage Acct + ADLS Gen2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2. Access Connector + RBAC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3. Storage Credential (UC)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4. External Locations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5. Catalogs + MANAGED LOC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6. UC Volumes (landing)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82880" y="4983480"/>
            <a:ext cx="850392" cy="2286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AI SP Converter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82880" y="5239512"/>
            <a:ext cx="850392" cy="3200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OpenAI/Gemini/Claude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SP → PySpark code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15568" y="4983480"/>
            <a:ext cx="850392" cy="2286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Stages &amp; Rerun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15568" y="5239512"/>
            <a:ext cx="850392" cy="32004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DLT(2)/Spark(3) stages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Per-job rerun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240280" y="3794760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240280" y="40690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PAT tokens for API auth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Encrypted JDBC (TLS)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UC RBAC per catalog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MANAGED LOCATION per catalog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0" y="3794760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0" y="40690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Reconciliation catalog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Execution logging catalog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versioning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deployconfig.json driven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03720" y="3794760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903720" y="40690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Per-stage rerun on fail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Self-healing bot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7-check DQ scoring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Incremental watermarks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235440" y="3794760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Scalability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235440" y="40690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Metadata-driven config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DLT + Standard PySpark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Multi-catalog arch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Extensible to Gold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82880" y="4800600"/>
            <a:ext cx="5029200" cy="2286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82880" y="5056632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Azure SQL Server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920240" y="5056632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0">
                <a:solidFill>
                  <a:srgbClr val="333333"/>
                </a:solidFill>
              </a:rPr>
              <a:t>HR source database (5 dimension tables)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82880" y="5257800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Python / Flask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920240" y="5257800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0">
                <a:solidFill>
                  <a:srgbClr val="333333"/>
                </a:solidFill>
              </a:rPr>
              <a:t>Web UI: pipeline config, deploy, monitor, rerun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82880" y="5458968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Databricks REST API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920240" y="5458968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0">
                <a:solidFill>
                  <a:srgbClr val="333333"/>
                </a:solidFill>
              </a:rPr>
              <a:t>Job submit + polling + notebook deploy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82880" y="5660136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UC Volumes + Delta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920240" y="5660136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0">
                <a:solidFill>
                  <a:srgbClr val="333333"/>
                </a:solidFill>
              </a:rPr>
              <a:t>Landing (Parquet) → Bronze/Silver (Delta)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82880" y="5861304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Delta Live Tables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920240" y="5861304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0">
                <a:solidFill>
                  <a:srgbClr val="333333"/>
                </a:solidFill>
              </a:rPr>
              <a:t>Optional DLT mode: Auto Loader + expectations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82880" y="6062472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Reconciliation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920240" y="6062472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0">
                <a:solidFill>
                  <a:srgbClr val="333333"/>
                </a:solidFill>
              </a:rPr>
              <a:t>Source vs Bronze aggregate validation per column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82880" y="6263640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deployconfig.json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920240" y="6263640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0">
                <a:solidFill>
                  <a:srgbClr val="333333"/>
                </a:solidFill>
              </a:rPr>
              <a:t>Auto-loads catalogs, locations, storage config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86400" y="4800600"/>
            <a:ext cx="6492240" cy="2286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End-to-End Data Flow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623560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Azure
SQL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400800" y="5349240"/>
            <a:ext cx="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Isosceles Triangle 94"/>
          <p:cNvSpPr/>
          <p:nvPr/>
        </p:nvSpPr>
        <p:spPr>
          <a:xfrm rot="5400000">
            <a:off x="6382512" y="5294376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6510528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JDBC
Extract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287768" y="5349240"/>
            <a:ext cx="0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Isosceles Triangle 97"/>
          <p:cNvSpPr/>
          <p:nvPr/>
        </p:nvSpPr>
        <p:spPr>
          <a:xfrm rot="5400000">
            <a:off x="7269480" y="5294376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397496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UC Volumes
Landing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8174736" y="5349240"/>
            <a:ext cx="0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Isosceles Triangle 100"/>
          <p:cNvSpPr/>
          <p:nvPr/>
        </p:nvSpPr>
        <p:spPr>
          <a:xfrm rot="5400000">
            <a:off x="8156448" y="5294376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8284464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Bronze
Delta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9061704" y="5349240"/>
            <a:ext cx="0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Isosceles Triangle 103"/>
          <p:cNvSpPr/>
          <p:nvPr/>
        </p:nvSpPr>
        <p:spPr>
          <a:xfrm rot="5400000">
            <a:off x="9043416" y="5294376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171432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Recon
Validation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9948672" y="5349240"/>
            <a:ext cx="0" cy="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Isosceles Triangle 106"/>
          <p:cNvSpPr/>
          <p:nvPr/>
        </p:nvSpPr>
        <p:spPr>
          <a:xfrm rot="5400000">
            <a:off x="9930384" y="5294376"/>
            <a:ext cx="128016" cy="109728"/>
          </a:xfrm>
          <a:prstGeom prst="triangl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10058400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Silver
Delta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0835640" y="5349240"/>
            <a:ext cx="0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Isosceles Triangle 109"/>
          <p:cNvSpPr/>
          <p:nvPr/>
        </p:nvSpPr>
        <p:spPr>
          <a:xfrm rot="5400000">
            <a:off x="10817352" y="5294376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0945368" y="51206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Exec
Log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486400" y="5669280"/>
            <a:ext cx="6492240" cy="2286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23560" y="592531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Gold Layer: aggregated KPIs for BI dashboards (Power BI / Tableau)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23560" y="610819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Secret Mgmt: Databricks Secrets / Azure Key Vault (replace PAT tokens)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623560" y="629107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CI/CD: Azure DevOps / GitHub Actions for notebook deploy &amp; pipeline promotion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23560" y="647395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Incremental Refresh: CDC-based streaming with Auto Loader / Change Data Feed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23560" y="665683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Monitoring: Azure Monitor + Databricks SQL Alerts + DQ dashboard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2880" y="6583680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AI Workflow Manager  |  Metadata-Driven Medallion  |  Reconciliation + Execution Logging  |  DLT + PySpark  |  Per-Stage Rerun  |  deployconfig.json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What's New  —  Features Added Since Initial Release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640080"/>
            <a:ext cx="3840480" cy="27432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🚀 Major New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87552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1. Deploy Infrastructure  (AutoInfraCreation)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261872"/>
            <a:ext cx="3840480" cy="86868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Fully automated Azure + Unity Catalog setup via Azure Python SDK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1: ADLS Gen2 Storage Account + Container + Folders (HNS enabled)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2: Access Connector for Databricks (Managed Identity)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3: RBAC — Storage Blob Data Contributor role assignment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4: Unity Catalog Storage Credential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5: External Locations (landing + managed root)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6: Catalogs with MANAGED LOCATION (dev_volumes, bronze, silver)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Step 7: UC Volumes for landing zone (Parquet staging)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2194560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2. Reconciliation &amp; Execution Logging Notebooks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2468880"/>
            <a:ext cx="3840480" cy="64008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04_Meta_Reconciliation — Source vs Bronze aggregate validation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• Identifies all numeric columns via INFORMATION_SCHEMA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• Computes SUM per column (JDBC + Delta) → PASS / WARN / FAIL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• Saves to dedicated reconciliation catalog + Delta table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05_Meta_ExecutionLog — Full audit trail per pipeline run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• Per-job results saved to loggingdetails.hr.ExecutionLog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3172968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FF3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3. Delta Live Tables (DLT) Pipeline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3447288"/>
            <a:ext cx="3840480" cy="50292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New pipeline_mode: 'dlt' alongside 'standard' PySpark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02_Meta_DLT_Pipeline — Auto Loader + DLT expectations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DLT Orchestrator — Extract → DLT pipeline trigger (2 stages)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Standard PySpark remains 3 stages: Extract → Bronze → Silver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4014216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4. deployconfig.json — Centralized 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4288536"/>
            <a:ext cx="3840480" cy="411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Auto-loads catalogs, storage paths, reconciliation &amp; logging config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metadata_notebooks.py reads defaults from deployconfig at import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Eliminates hardcoded values — all infra params in one JSON 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640080"/>
            <a:ext cx="3840480" cy="27432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🔧 Pipeline &amp; UI Enhancements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987552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5. Per-Stage Pipeline Progress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261872"/>
            <a:ext cx="3840480" cy="50292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Stage progress bar with arrows in Pipeline Studio cards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DLT mode: 2 stages (Extract → DLT Bronze+Silver)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Standard mode: 3 stages (Extract → Bronze → Silver)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Stage-specific status icons: ✅ success / ❌ failed / ⏳ running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828800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6. Per-Job Rerun on Failure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103120"/>
            <a:ext cx="3840480" cy="41148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🔄 Rerun button on each failed stage in Pipeline Studio cards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🔄 Rerun Job button in Pipeline Logs panel per failed run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Reruns from the first failed stage forward (preserves earlier stages)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578608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7. Data Quality Framework  (Bronze + Silver)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852928"/>
            <a:ext cx="3840480" cy="59436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Bronze: 5 DQ checks — empty file, null-key, duplicate, schema drift, quarantine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Silver: 7 DQ checks — quarantine filter, null removal, high-null cols,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dedup, string trim, empty→NULL, row count anomaly detection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DQ Score: % of checks passed → saved to __dq_metrics Delta table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Per-row __dq_status (passed/warn) + __is_quarantined flags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511296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8. MANAGED LOCATION for CREATE CATALOG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785616"/>
            <a:ext cx="3840480" cy="32004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Fixed AnalysisException: Metastore storage root URL does not exist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recon_location / log_location threaded through entire stack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Backend → metadata_notebooks → workflow_manager → app → frontend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640080"/>
            <a:ext cx="3749039" cy="27432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🐛 Bug Fixes &amp; Improvements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987552"/>
            <a:ext cx="3749039" cy="256032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JDBC ORDER BY Fix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261872"/>
            <a:ext cx="3749039" cy="411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Removed ORDER BY ORDINAL_POSITION from JDBC subquery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SQL Server forbids ORDER BY in derived tables without TOP/OFFSET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Reconciliation col_query no longer causes SQLServerException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737360"/>
            <a:ext cx="3749039" cy="256032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Multi-Catalog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011680"/>
            <a:ext cx="3749039" cy="411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Volumes, Bronze, Silver catalogs must exist before pipeline run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Notebooks run CREATE SCHEMA IF NOT EXISTS (auto-creates schemas)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But CATALOG must already exist — validated in documentation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487168"/>
            <a:ext cx="3749039" cy="256032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1">
                <a:solidFill>
                  <a:srgbClr val="FFFFFF"/>
                </a:solidFill>
              </a:rPr>
              <a:t>Frontend → Backend Param Fixes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761488"/>
            <a:ext cx="3749039" cy="411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recon_location / log_location sent in deploy &amp; run-databricks payloads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pipeline_mode sent from UI when creating pipelines (single + bulk)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DLT stage filter added to Job Manager dropdown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5303520"/>
            <a:ext cx="3749039" cy="256032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Before vs After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5596128"/>
            <a:ext cx="1005840" cy="182880"/>
          </a:xfrm>
          <a:prstGeom prst="roundRect">
            <a:avLst>
              <a:gd name="adj" fmla="val 8000"/>
            </a:avLst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333333"/>
                </a:solidFill>
              </a:rPr>
              <a:t>Feature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5596128"/>
            <a:ext cx="128016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C62828"/>
                </a:solidFill>
              </a:rPr>
              <a:t>Before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0" y="5596128"/>
            <a:ext cx="146304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0" b="1">
                <a:solidFill>
                  <a:srgbClr val="2E7D32"/>
                </a:solidFill>
              </a:rPr>
              <a:t>After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5779008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1">
                <a:solidFill>
                  <a:srgbClr val="333333"/>
                </a:solidFill>
              </a:rPr>
              <a:t>Notebooks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5779008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666666"/>
                </a:solidFill>
              </a:rPr>
              <a:t>4 notebooks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0" y="5779008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2E7D32"/>
                </a:solidFill>
              </a:rPr>
              <a:t>6 notebooks (+Recon, +ExecLog)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5943600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1">
                <a:solidFill>
                  <a:srgbClr val="333333"/>
                </a:solidFill>
              </a:rPr>
              <a:t>Pipeline Modes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5943600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666666"/>
                </a:solidFill>
              </a:rPr>
              <a:t>Standard only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0" y="5943600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2E7D32"/>
                </a:solidFill>
              </a:rPr>
              <a:t>Standard + DLT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6108192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1">
                <a:solidFill>
                  <a:srgbClr val="333333"/>
                </a:solidFill>
              </a:rPr>
              <a:t>Stages Visible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6108192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666666"/>
                </a:solidFill>
              </a:rPr>
              <a:t>None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15600" y="6108192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2E7D32"/>
                </a:solidFill>
              </a:rPr>
              <a:t>Per-stage progress bars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6272784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1">
                <a:solidFill>
                  <a:srgbClr val="333333"/>
                </a:solidFill>
              </a:rPr>
              <a:t>Rerun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6272784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666666"/>
                </a:solidFill>
              </a:rPr>
              <a:t>Full rerun only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0" y="6272784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2E7D32"/>
                </a:solidFill>
              </a:rPr>
              <a:t>Per-job rerun from failure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6437376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1">
                <a:solidFill>
                  <a:srgbClr val="333333"/>
                </a:solidFill>
              </a:rPr>
              <a:t>Infra Setup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6437376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666666"/>
                </a:solidFill>
              </a:rPr>
              <a:t>Manual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15600" y="6437376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2E7D32"/>
                </a:solidFill>
              </a:rPr>
              <a:t>Automated (AutoInfraCreation)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6601968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1">
                <a:solidFill>
                  <a:srgbClr val="333333"/>
                </a:solidFill>
              </a:rPr>
              <a:t>Config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6601968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666666"/>
                </a:solidFill>
              </a:rPr>
              <a:t>Hardcoded defaults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15600" y="6601968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2E7D32"/>
                </a:solidFill>
              </a:rPr>
              <a:t>deployconfig.json driven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6766560"/>
            <a:ext cx="10058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1">
                <a:solidFill>
                  <a:srgbClr val="333333"/>
                </a:solidFill>
              </a:rPr>
              <a:t>DQ Checks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35440" y="6766560"/>
            <a:ext cx="128016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666666"/>
                </a:solidFill>
              </a:rPr>
              <a:t>Basic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15600" y="6766560"/>
            <a:ext cx="146304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00" b="0">
                <a:solidFill>
                  <a:srgbClr val="2E7D32"/>
                </a:solidFill>
              </a:rPr>
              <a:t>12 checks + DQ Score + metrics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" y="6583680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SQL to Databricks Migration  |  What's New — All changes since initial architecture 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0D4DF-7691-BF2E-CA5D-717AD83FC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0A44D-81B6-24C9-C213-C3A27883F1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973312" y="6391929"/>
            <a:ext cx="2804160" cy="16414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F8EC9C-A30C-064F-F5BE-51AFD97D4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" y="-123234"/>
            <a:ext cx="11338560" cy="868471"/>
          </a:xfrm>
        </p:spPr>
        <p:txBody>
          <a:bodyPr/>
          <a:lstStyle/>
          <a:p>
            <a:pPr algn="l"/>
            <a:r>
              <a:rPr lang="en-US" sz="1867" dirty="0">
                <a:solidFill>
                  <a:schemeClr val="accent4"/>
                </a:solidFill>
              </a:rPr>
              <a:t>Reference Architecture  --  SQL Server to Databricks Unity Catalog  |  Metadata-Driven Medallion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F9FE5067-D0BE-6DBB-EC6A-00B15C3C2416}"/>
              </a:ext>
            </a:extLst>
          </p:cNvPr>
          <p:cNvSpPr/>
          <p:nvPr/>
        </p:nvSpPr>
        <p:spPr>
          <a:xfrm>
            <a:off x="116376" y="584660"/>
            <a:ext cx="1463040" cy="32004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Azure SQL Server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6FDA393E-A688-7D4D-302E-014B6ACCA656}"/>
              </a:ext>
            </a:extLst>
          </p:cNvPr>
          <p:cNvSpPr/>
          <p:nvPr/>
        </p:nvSpPr>
        <p:spPr>
          <a:xfrm>
            <a:off x="116376" y="932132"/>
            <a:ext cx="1463040" cy="86868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HR Database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-------------------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DimDepartment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DimEmployee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DimJobRole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DimLocation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DimDate</a:t>
            </a:r>
          </a:p>
        </p:txBody>
      </p:sp>
      <p:cxnSp>
        <p:nvCxnSpPr>
          <p:cNvPr id="8" name="Connector 4">
            <a:extLst>
              <a:ext uri="{FF2B5EF4-FFF2-40B4-BE49-F238E27FC236}">
                <a16:creationId xmlns:a16="http://schemas.microsoft.com/office/drawing/2014/main" id="{81687503-3467-DA3E-79CB-8E72A147C79E}"/>
              </a:ext>
            </a:extLst>
          </p:cNvPr>
          <p:cNvCxnSpPr/>
          <p:nvPr/>
        </p:nvCxnSpPr>
        <p:spPr>
          <a:xfrm>
            <a:off x="1625136" y="1087580"/>
            <a:ext cx="164592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D50A093-1EEA-00D6-8A24-B4535FFEE06D}"/>
              </a:ext>
            </a:extLst>
          </p:cNvPr>
          <p:cNvSpPr/>
          <p:nvPr/>
        </p:nvSpPr>
        <p:spPr>
          <a:xfrm rot="5400000">
            <a:off x="1771440" y="1032716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81EFC1B6-06E5-D3A1-9CBB-0B3149D7E6B9}"/>
              </a:ext>
            </a:extLst>
          </p:cNvPr>
          <p:cNvSpPr/>
          <p:nvPr/>
        </p:nvSpPr>
        <p:spPr>
          <a:xfrm>
            <a:off x="1899456" y="584660"/>
            <a:ext cx="1691640" cy="32004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Flask AI Workflow Mgr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677D5DE3-0E14-501D-1372-B95E3F8CDE4E}"/>
              </a:ext>
            </a:extLst>
          </p:cNvPr>
          <p:cNvSpPr/>
          <p:nvPr/>
        </p:nvSpPr>
        <p:spPr>
          <a:xfrm>
            <a:off x="1899456" y="932132"/>
            <a:ext cx="1691640" cy="86868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Metadata pipeline config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SP to PySpark (AI)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Notebook gen &amp; deploy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Databricks job submit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Background run polling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Self-healing recovery</a:t>
            </a:r>
          </a:p>
        </p:txBody>
      </p:sp>
      <p:cxnSp>
        <p:nvCxnSpPr>
          <p:cNvPr id="12" name="Connector 8">
            <a:extLst>
              <a:ext uri="{FF2B5EF4-FFF2-40B4-BE49-F238E27FC236}">
                <a16:creationId xmlns:a16="http://schemas.microsoft.com/office/drawing/2014/main" id="{7109E2B2-7EAB-86C8-44BE-AC0934D239E4}"/>
              </a:ext>
            </a:extLst>
          </p:cNvPr>
          <p:cNvCxnSpPr>
            <a:cxnSpLocks/>
          </p:cNvCxnSpPr>
          <p:nvPr/>
        </p:nvCxnSpPr>
        <p:spPr>
          <a:xfrm>
            <a:off x="3591096" y="1098664"/>
            <a:ext cx="276816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90505AF2-17C8-C105-DC17-E80BB1CDF9D5}"/>
              </a:ext>
            </a:extLst>
          </p:cNvPr>
          <p:cNvSpPr/>
          <p:nvPr/>
        </p:nvSpPr>
        <p:spPr>
          <a:xfrm rot="5400000">
            <a:off x="3849623" y="1043800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2EDDDD-346B-6429-6C42-77CAA07AD832}"/>
              </a:ext>
            </a:extLst>
          </p:cNvPr>
          <p:cNvSpPr txBox="1"/>
          <p:nvPr/>
        </p:nvSpPr>
        <p:spPr>
          <a:xfrm>
            <a:off x="3510048" y="1184281"/>
            <a:ext cx="54864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dirty="0">
                <a:solidFill>
                  <a:srgbClr val="666666"/>
                </a:solidFill>
              </a:rPr>
              <a:t>REST API</a:t>
            </a: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0CB42D81-3208-5A8F-9F03-C90B55D09ABB}"/>
              </a:ext>
            </a:extLst>
          </p:cNvPr>
          <p:cNvSpPr/>
          <p:nvPr/>
        </p:nvSpPr>
        <p:spPr>
          <a:xfrm>
            <a:off x="3977639" y="627613"/>
            <a:ext cx="8001000" cy="2810804"/>
          </a:xfrm>
          <a:prstGeom prst="roundRect">
            <a:avLst>
              <a:gd name="adj" fmla="val 2000"/>
            </a:avLst>
          </a:prstGeom>
          <a:solidFill>
            <a:srgbClr val="FDFDFD"/>
          </a:solidFill>
          <a:ln w="254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FC0721-53EA-C90E-202F-2BF0274FA89A}"/>
              </a:ext>
            </a:extLst>
          </p:cNvPr>
          <p:cNvSpPr txBox="1"/>
          <p:nvPr/>
        </p:nvSpPr>
        <p:spPr>
          <a:xfrm>
            <a:off x="7009013" y="400714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FF3E21"/>
                </a:solidFill>
              </a:rPr>
              <a:t>Databricks Unity Catalog</a:t>
            </a:r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C4FC653F-659A-73E6-D1DF-E543D0C2AC11}"/>
              </a:ext>
            </a:extLst>
          </p:cNvPr>
          <p:cNvSpPr/>
          <p:nvPr/>
        </p:nvSpPr>
        <p:spPr>
          <a:xfrm>
            <a:off x="4114799" y="740936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dev_volumes</a:t>
            </a: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6A3265E9-5DD8-7728-8B32-75691FCB313C}"/>
              </a:ext>
            </a:extLst>
          </p:cNvPr>
          <p:cNvSpPr/>
          <p:nvPr/>
        </p:nvSpPr>
        <p:spPr>
          <a:xfrm>
            <a:off x="4114799" y="1015256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UC Volumes (Landing)</a:t>
            </a:r>
          </a:p>
        </p:txBody>
      </p:sp>
      <p:sp>
        <p:nvSpPr>
          <p:cNvPr id="20" name="Rounded Rectangle 15">
            <a:extLst>
              <a:ext uri="{FF2B5EF4-FFF2-40B4-BE49-F238E27FC236}">
                <a16:creationId xmlns:a16="http://schemas.microsoft.com/office/drawing/2014/main" id="{868AAEF4-BB90-80F8-2A31-52331A6830D8}"/>
              </a:ext>
            </a:extLst>
          </p:cNvPr>
          <p:cNvSpPr/>
          <p:nvPr/>
        </p:nvSpPr>
        <p:spPr>
          <a:xfrm>
            <a:off x="4114799" y="1216424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/Volumes/dev_volumes/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hr/landing/{table}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Format: Parquet</a:t>
            </a:r>
          </a:p>
        </p:txBody>
      </p:sp>
      <p:cxnSp>
        <p:nvCxnSpPr>
          <p:cNvPr id="21" name="Connector 16">
            <a:extLst>
              <a:ext uri="{FF2B5EF4-FFF2-40B4-BE49-F238E27FC236}">
                <a16:creationId xmlns:a16="http://schemas.microsoft.com/office/drawing/2014/main" id="{3C5159F3-8071-4A09-E0F5-218FE15816F8}"/>
              </a:ext>
            </a:extLst>
          </p:cNvPr>
          <p:cNvCxnSpPr/>
          <p:nvPr/>
        </p:nvCxnSpPr>
        <p:spPr>
          <a:xfrm>
            <a:off x="5806439" y="1289576"/>
            <a:ext cx="73152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82972DA-237B-7BF1-5EED-2B1CD8387457}"/>
              </a:ext>
            </a:extLst>
          </p:cNvPr>
          <p:cNvSpPr/>
          <p:nvPr/>
        </p:nvSpPr>
        <p:spPr>
          <a:xfrm rot="5400000">
            <a:off x="5861303" y="1234712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ounded Rectangle 18">
            <a:extLst>
              <a:ext uri="{FF2B5EF4-FFF2-40B4-BE49-F238E27FC236}">
                <a16:creationId xmlns:a16="http://schemas.microsoft.com/office/drawing/2014/main" id="{F97966A2-CAB3-5E5B-8A10-C2A6F90A8F8B}"/>
              </a:ext>
            </a:extLst>
          </p:cNvPr>
          <p:cNvSpPr/>
          <p:nvPr/>
        </p:nvSpPr>
        <p:spPr>
          <a:xfrm>
            <a:off x="5989319" y="740936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24" name="Rounded Rectangle 19">
            <a:extLst>
              <a:ext uri="{FF2B5EF4-FFF2-40B4-BE49-F238E27FC236}">
                <a16:creationId xmlns:a16="http://schemas.microsoft.com/office/drawing/2014/main" id="{E602E90E-AC47-8353-8666-C65D967E205F}"/>
              </a:ext>
            </a:extLst>
          </p:cNvPr>
          <p:cNvSpPr/>
          <p:nvPr/>
        </p:nvSpPr>
        <p:spPr>
          <a:xfrm>
            <a:off x="5989319" y="1015256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Bronze (Raw + Audit)</a:t>
            </a:r>
          </a:p>
        </p:txBody>
      </p:sp>
      <p:sp>
        <p:nvSpPr>
          <p:cNvPr id="25" name="Rounded Rectangle 20">
            <a:extLst>
              <a:ext uri="{FF2B5EF4-FFF2-40B4-BE49-F238E27FC236}">
                <a16:creationId xmlns:a16="http://schemas.microsoft.com/office/drawing/2014/main" id="{CFC4C40C-25F7-8022-E7EA-E22EE08AB372}"/>
              </a:ext>
            </a:extLst>
          </p:cNvPr>
          <p:cNvSpPr/>
          <p:nvPr/>
        </p:nvSpPr>
        <p:spPr>
          <a:xfrm>
            <a:off x="5989319" y="1216424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bronze.hr.{table}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+ __src_file, __load_ts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+ __batch_id</a:t>
            </a:r>
          </a:p>
        </p:txBody>
      </p:sp>
      <p:cxnSp>
        <p:nvCxnSpPr>
          <p:cNvPr id="26" name="Connector 21">
            <a:extLst>
              <a:ext uri="{FF2B5EF4-FFF2-40B4-BE49-F238E27FC236}">
                <a16:creationId xmlns:a16="http://schemas.microsoft.com/office/drawing/2014/main" id="{9341B2E9-F260-E650-B552-AF4CFDAB9D23}"/>
              </a:ext>
            </a:extLst>
          </p:cNvPr>
          <p:cNvCxnSpPr/>
          <p:nvPr/>
        </p:nvCxnSpPr>
        <p:spPr>
          <a:xfrm>
            <a:off x="7680959" y="1289576"/>
            <a:ext cx="73152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BC7EB642-0589-ABA6-38A4-67444A35957E}"/>
              </a:ext>
            </a:extLst>
          </p:cNvPr>
          <p:cNvSpPr/>
          <p:nvPr/>
        </p:nvSpPr>
        <p:spPr>
          <a:xfrm rot="5400000">
            <a:off x="7735823" y="1234712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ounded Rectangle 23">
            <a:extLst>
              <a:ext uri="{FF2B5EF4-FFF2-40B4-BE49-F238E27FC236}">
                <a16:creationId xmlns:a16="http://schemas.microsoft.com/office/drawing/2014/main" id="{FD98BCDF-B481-E0AF-F5F2-24274B72EAD6}"/>
              </a:ext>
            </a:extLst>
          </p:cNvPr>
          <p:cNvSpPr/>
          <p:nvPr/>
        </p:nvSpPr>
        <p:spPr>
          <a:xfrm>
            <a:off x="7863839" y="740936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9" name="Rounded Rectangle 24">
            <a:extLst>
              <a:ext uri="{FF2B5EF4-FFF2-40B4-BE49-F238E27FC236}">
                <a16:creationId xmlns:a16="http://schemas.microsoft.com/office/drawing/2014/main" id="{2D989FC8-4867-6BC8-B5D8-52E1FA34DA6D}"/>
              </a:ext>
            </a:extLst>
          </p:cNvPr>
          <p:cNvSpPr/>
          <p:nvPr/>
        </p:nvSpPr>
        <p:spPr>
          <a:xfrm>
            <a:off x="7863839" y="1015256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Silver (Cleansed)</a:t>
            </a:r>
          </a:p>
        </p:txBody>
      </p:sp>
      <p:sp>
        <p:nvSpPr>
          <p:cNvPr id="30" name="Rounded Rectangle 25">
            <a:extLst>
              <a:ext uri="{FF2B5EF4-FFF2-40B4-BE49-F238E27FC236}">
                <a16:creationId xmlns:a16="http://schemas.microsoft.com/office/drawing/2014/main" id="{2E05EA6A-27D5-9443-463C-79E92BB8D8D7}"/>
              </a:ext>
            </a:extLst>
          </p:cNvPr>
          <p:cNvSpPr/>
          <p:nvPr/>
        </p:nvSpPr>
        <p:spPr>
          <a:xfrm>
            <a:off x="7863839" y="1216424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silver.hr.{table}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Dedup + null handling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Type cast + DQ checks</a:t>
            </a:r>
          </a:p>
        </p:txBody>
      </p:sp>
      <p:cxnSp>
        <p:nvCxnSpPr>
          <p:cNvPr id="31" name="Connector 26">
            <a:extLst>
              <a:ext uri="{FF2B5EF4-FFF2-40B4-BE49-F238E27FC236}">
                <a16:creationId xmlns:a16="http://schemas.microsoft.com/office/drawing/2014/main" id="{E644AC51-62B2-88AE-B60E-453BDA2A336E}"/>
              </a:ext>
            </a:extLst>
          </p:cNvPr>
          <p:cNvCxnSpPr/>
          <p:nvPr/>
        </p:nvCxnSpPr>
        <p:spPr>
          <a:xfrm>
            <a:off x="9555479" y="1289576"/>
            <a:ext cx="73152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5CE3EFD1-A4EF-285A-AE52-7CC713FC426F}"/>
              </a:ext>
            </a:extLst>
          </p:cNvPr>
          <p:cNvSpPr/>
          <p:nvPr/>
        </p:nvSpPr>
        <p:spPr>
          <a:xfrm rot="5400000">
            <a:off x="9610343" y="1234712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ounded Rectangle 28">
            <a:extLst>
              <a:ext uri="{FF2B5EF4-FFF2-40B4-BE49-F238E27FC236}">
                <a16:creationId xmlns:a16="http://schemas.microsoft.com/office/drawing/2014/main" id="{C55438A7-15B1-0E27-300D-30B03E18F565}"/>
              </a:ext>
            </a:extLst>
          </p:cNvPr>
          <p:cNvSpPr/>
          <p:nvPr/>
        </p:nvSpPr>
        <p:spPr>
          <a:xfrm>
            <a:off x="9738359" y="740936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333333"/>
                </a:solidFill>
              </a:rPr>
              <a:t>gold (future)</a:t>
            </a:r>
          </a:p>
        </p:txBody>
      </p:sp>
      <p:sp>
        <p:nvSpPr>
          <p:cNvPr id="34" name="Rounded Rectangle 29">
            <a:extLst>
              <a:ext uri="{FF2B5EF4-FFF2-40B4-BE49-F238E27FC236}">
                <a16:creationId xmlns:a16="http://schemas.microsoft.com/office/drawing/2014/main" id="{B0E39A24-A9BF-50D5-85EC-976CE45F4A2B}"/>
              </a:ext>
            </a:extLst>
          </p:cNvPr>
          <p:cNvSpPr/>
          <p:nvPr/>
        </p:nvSpPr>
        <p:spPr>
          <a:xfrm>
            <a:off x="9738359" y="1015256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Gold (Business KPIs)</a:t>
            </a:r>
          </a:p>
        </p:txBody>
      </p:sp>
      <p:sp>
        <p:nvSpPr>
          <p:cNvPr id="35" name="Rounded Rectangle 30">
            <a:extLst>
              <a:ext uri="{FF2B5EF4-FFF2-40B4-BE49-F238E27FC236}">
                <a16:creationId xmlns:a16="http://schemas.microsoft.com/office/drawing/2014/main" id="{CC62C12A-B64A-228C-5BE2-1115160F48D7}"/>
              </a:ext>
            </a:extLst>
          </p:cNvPr>
          <p:cNvSpPr/>
          <p:nvPr/>
        </p:nvSpPr>
        <p:spPr>
          <a:xfrm>
            <a:off x="9738359" y="1216424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Aggregated datasets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BI-ready views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Power BI / Tableau</a:t>
            </a:r>
          </a:p>
        </p:txBody>
      </p:sp>
      <p:sp>
        <p:nvSpPr>
          <p:cNvPr id="36" name="Rounded Rectangle 31">
            <a:extLst>
              <a:ext uri="{FF2B5EF4-FFF2-40B4-BE49-F238E27FC236}">
                <a16:creationId xmlns:a16="http://schemas.microsoft.com/office/drawing/2014/main" id="{0C328EAE-08E9-7CFF-90D9-97B6DB569BD9}"/>
              </a:ext>
            </a:extLst>
          </p:cNvPr>
          <p:cNvSpPr/>
          <p:nvPr/>
        </p:nvSpPr>
        <p:spPr>
          <a:xfrm>
            <a:off x="4114799" y="1810784"/>
            <a:ext cx="7726680" cy="2286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Metadata Delta Tables  (Unity Catalog)</a:t>
            </a:r>
          </a:p>
        </p:txBody>
      </p:sp>
      <p:sp>
        <p:nvSpPr>
          <p:cNvPr id="37" name="Rounded Rectangle 32">
            <a:extLst>
              <a:ext uri="{FF2B5EF4-FFF2-40B4-BE49-F238E27FC236}">
                <a16:creationId xmlns:a16="http://schemas.microsoft.com/office/drawing/2014/main" id="{2596B24D-39CE-1494-A77A-12D296CF553A}"/>
              </a:ext>
            </a:extLst>
          </p:cNvPr>
          <p:cNvSpPr/>
          <p:nvPr/>
        </p:nvSpPr>
        <p:spPr>
          <a:xfrm>
            <a:off x="4114799" y="2066816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1">
                <a:solidFill>
                  <a:srgbClr val="333333"/>
                </a:solidFill>
              </a:rPr>
              <a:t>wf_pipeline_metadata</a:t>
            </a:r>
          </a:p>
        </p:txBody>
      </p:sp>
      <p:sp>
        <p:nvSpPr>
          <p:cNvPr id="38" name="Rounded Rectangle 33">
            <a:extLst>
              <a:ext uri="{FF2B5EF4-FFF2-40B4-BE49-F238E27FC236}">
                <a16:creationId xmlns:a16="http://schemas.microsoft.com/office/drawing/2014/main" id="{E3136A12-C011-7E8E-2EB3-2259D8CF2BA2}"/>
              </a:ext>
            </a:extLst>
          </p:cNvPr>
          <p:cNvSpPr/>
          <p:nvPr/>
        </p:nvSpPr>
        <p:spPr>
          <a:xfrm>
            <a:off x="5678423" y="2066816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1">
                <a:solidFill>
                  <a:srgbClr val="333333"/>
                </a:solidFill>
              </a:rPr>
              <a:t>wf_job_metadata</a:t>
            </a:r>
          </a:p>
        </p:txBody>
      </p:sp>
      <p:sp>
        <p:nvSpPr>
          <p:cNvPr id="39" name="Rounded Rectangle 34">
            <a:extLst>
              <a:ext uri="{FF2B5EF4-FFF2-40B4-BE49-F238E27FC236}">
                <a16:creationId xmlns:a16="http://schemas.microsoft.com/office/drawing/2014/main" id="{409D5E49-E881-AB62-386B-8B9FFC9B2FFD}"/>
              </a:ext>
            </a:extLst>
          </p:cNvPr>
          <p:cNvSpPr/>
          <p:nvPr/>
        </p:nvSpPr>
        <p:spPr>
          <a:xfrm>
            <a:off x="7242047" y="2066816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1">
                <a:solidFill>
                  <a:srgbClr val="333333"/>
                </a:solidFill>
              </a:rPr>
              <a:t>wf_run_history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D57618FA-28F6-1CBC-AE76-12F6854B67E3}"/>
              </a:ext>
            </a:extLst>
          </p:cNvPr>
          <p:cNvSpPr/>
          <p:nvPr/>
        </p:nvSpPr>
        <p:spPr>
          <a:xfrm>
            <a:off x="8805671" y="2066816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1">
                <a:solidFill>
                  <a:srgbClr val="333333"/>
                </a:solidFill>
              </a:rPr>
              <a:t>wf_watermark_metadata</a:t>
            </a:r>
          </a:p>
        </p:txBody>
      </p:sp>
      <p:sp>
        <p:nvSpPr>
          <p:cNvPr id="41" name="Rounded Rectangle 36">
            <a:extLst>
              <a:ext uri="{FF2B5EF4-FFF2-40B4-BE49-F238E27FC236}">
                <a16:creationId xmlns:a16="http://schemas.microsoft.com/office/drawing/2014/main" id="{474CC0D4-CDD4-36E4-CAF4-D5011B83F088}"/>
              </a:ext>
            </a:extLst>
          </p:cNvPr>
          <p:cNvSpPr/>
          <p:nvPr/>
        </p:nvSpPr>
        <p:spPr>
          <a:xfrm>
            <a:off x="10369295" y="2066816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1">
                <a:solidFill>
                  <a:srgbClr val="333333"/>
                </a:solidFill>
              </a:rPr>
              <a:t>wf_source_tables</a:t>
            </a:r>
          </a:p>
        </p:txBody>
      </p:sp>
      <p:sp>
        <p:nvSpPr>
          <p:cNvPr id="42" name="Rounded Rectangle 37">
            <a:extLst>
              <a:ext uri="{FF2B5EF4-FFF2-40B4-BE49-F238E27FC236}">
                <a16:creationId xmlns:a16="http://schemas.microsoft.com/office/drawing/2014/main" id="{E0F3906C-961F-640B-CC1E-CD5A7B533F92}"/>
              </a:ext>
            </a:extLst>
          </p:cNvPr>
          <p:cNvSpPr/>
          <p:nvPr/>
        </p:nvSpPr>
        <p:spPr>
          <a:xfrm>
            <a:off x="4114799" y="2405144"/>
            <a:ext cx="7726680" cy="228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Auto-Generated Metadata Notebooks</a:t>
            </a:r>
          </a:p>
        </p:txBody>
      </p:sp>
      <p:sp>
        <p:nvSpPr>
          <p:cNvPr id="43" name="Rounded Rectangle 38">
            <a:extLst>
              <a:ext uri="{FF2B5EF4-FFF2-40B4-BE49-F238E27FC236}">
                <a16:creationId xmlns:a16="http://schemas.microsoft.com/office/drawing/2014/main" id="{8432A27A-78F0-B485-C3A6-48F905683702}"/>
              </a:ext>
            </a:extLst>
          </p:cNvPr>
          <p:cNvSpPr/>
          <p:nvPr/>
        </p:nvSpPr>
        <p:spPr>
          <a:xfrm>
            <a:off x="4114799" y="2661176"/>
            <a:ext cx="182880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00_Meta_Orchestrator</a:t>
            </a:r>
          </a:p>
        </p:txBody>
      </p:sp>
      <p:sp>
        <p:nvSpPr>
          <p:cNvPr id="44" name="Rounded Rectangle 39">
            <a:extLst>
              <a:ext uri="{FF2B5EF4-FFF2-40B4-BE49-F238E27FC236}">
                <a16:creationId xmlns:a16="http://schemas.microsoft.com/office/drawing/2014/main" id="{CDADAA84-71A2-1D13-501D-77045E8599C5}"/>
              </a:ext>
            </a:extLst>
          </p:cNvPr>
          <p:cNvSpPr/>
          <p:nvPr/>
        </p:nvSpPr>
        <p:spPr>
          <a:xfrm>
            <a:off x="4114799" y="2880632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Reads pipeline metadata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Runs E&gt;B&gt;S per table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Breaks on FAILED</a:t>
            </a:r>
          </a:p>
        </p:txBody>
      </p:sp>
      <p:cxnSp>
        <p:nvCxnSpPr>
          <p:cNvPr id="45" name="Connector 40">
            <a:extLst>
              <a:ext uri="{FF2B5EF4-FFF2-40B4-BE49-F238E27FC236}">
                <a16:creationId xmlns:a16="http://schemas.microsoft.com/office/drawing/2014/main" id="{B466D747-B0A9-3784-5D7E-5409C30EC253}"/>
              </a:ext>
            </a:extLst>
          </p:cNvPr>
          <p:cNvCxnSpPr/>
          <p:nvPr/>
        </p:nvCxnSpPr>
        <p:spPr>
          <a:xfrm>
            <a:off x="0" y="2908064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74AB4948-6C59-F795-1A1F-B77B53275327}"/>
              </a:ext>
            </a:extLst>
          </p:cNvPr>
          <p:cNvSpPr/>
          <p:nvPr/>
        </p:nvSpPr>
        <p:spPr>
          <a:xfrm rot="5400000">
            <a:off x="5952743" y="2853200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Rounded Rectangle 42">
            <a:extLst>
              <a:ext uri="{FF2B5EF4-FFF2-40B4-BE49-F238E27FC236}">
                <a16:creationId xmlns:a16="http://schemas.microsoft.com/office/drawing/2014/main" id="{3832C16D-E6AC-D8AB-5DA5-5859B180431B}"/>
              </a:ext>
            </a:extLst>
          </p:cNvPr>
          <p:cNvSpPr/>
          <p:nvPr/>
        </p:nvSpPr>
        <p:spPr>
          <a:xfrm>
            <a:off x="6080759" y="2661176"/>
            <a:ext cx="182880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01_Meta_Extract</a:t>
            </a:r>
          </a:p>
        </p:txBody>
      </p:sp>
      <p:sp>
        <p:nvSpPr>
          <p:cNvPr id="48" name="Rounded Rectangle 43">
            <a:extLst>
              <a:ext uri="{FF2B5EF4-FFF2-40B4-BE49-F238E27FC236}">
                <a16:creationId xmlns:a16="http://schemas.microsoft.com/office/drawing/2014/main" id="{62E48BC1-B7DF-A771-6919-589436481438}"/>
              </a:ext>
            </a:extLst>
          </p:cNvPr>
          <p:cNvSpPr/>
          <p:nvPr/>
        </p:nvSpPr>
        <p:spPr>
          <a:xfrm>
            <a:off x="6080759" y="2880632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JDBC to Azure SQL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Watermark filtering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Write Parquet to Volumes</a:t>
            </a:r>
          </a:p>
        </p:txBody>
      </p:sp>
      <p:cxnSp>
        <p:nvCxnSpPr>
          <p:cNvPr id="49" name="Connector 44">
            <a:extLst>
              <a:ext uri="{FF2B5EF4-FFF2-40B4-BE49-F238E27FC236}">
                <a16:creationId xmlns:a16="http://schemas.microsoft.com/office/drawing/2014/main" id="{3258C1DB-8E1F-EC6F-8F74-41914E866EE6}"/>
              </a:ext>
            </a:extLst>
          </p:cNvPr>
          <p:cNvCxnSpPr/>
          <p:nvPr/>
        </p:nvCxnSpPr>
        <p:spPr>
          <a:xfrm>
            <a:off x="0" y="2908064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3E88429E-558D-3929-F5A1-CF1A4E1A660C}"/>
              </a:ext>
            </a:extLst>
          </p:cNvPr>
          <p:cNvSpPr/>
          <p:nvPr/>
        </p:nvSpPr>
        <p:spPr>
          <a:xfrm rot="5400000">
            <a:off x="7918703" y="2853200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Rounded Rectangle 46">
            <a:extLst>
              <a:ext uri="{FF2B5EF4-FFF2-40B4-BE49-F238E27FC236}">
                <a16:creationId xmlns:a16="http://schemas.microsoft.com/office/drawing/2014/main" id="{CDE64078-598C-41EC-FBE4-49962387AA15}"/>
              </a:ext>
            </a:extLst>
          </p:cNvPr>
          <p:cNvSpPr/>
          <p:nvPr/>
        </p:nvSpPr>
        <p:spPr>
          <a:xfrm>
            <a:off x="8046719" y="2661176"/>
            <a:ext cx="182880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02_Meta_Bronze</a:t>
            </a:r>
          </a:p>
        </p:txBody>
      </p:sp>
      <p:sp>
        <p:nvSpPr>
          <p:cNvPr id="52" name="Rounded Rectangle 47">
            <a:extLst>
              <a:ext uri="{FF2B5EF4-FFF2-40B4-BE49-F238E27FC236}">
                <a16:creationId xmlns:a16="http://schemas.microsoft.com/office/drawing/2014/main" id="{A10DCAC0-6B6E-B103-CB60-EE0BA5632571}"/>
              </a:ext>
            </a:extLst>
          </p:cNvPr>
          <p:cNvSpPr/>
          <p:nvPr/>
        </p:nvSpPr>
        <p:spPr>
          <a:xfrm>
            <a:off x="8046719" y="2880632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Read landing Parquet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Add audit columns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MERGE to bronze Delta</a:t>
            </a:r>
          </a:p>
        </p:txBody>
      </p:sp>
      <p:cxnSp>
        <p:nvCxnSpPr>
          <p:cNvPr id="53" name="Connector 48">
            <a:extLst>
              <a:ext uri="{FF2B5EF4-FFF2-40B4-BE49-F238E27FC236}">
                <a16:creationId xmlns:a16="http://schemas.microsoft.com/office/drawing/2014/main" id="{6673B0C8-F7FD-379E-6ADC-CDA14FB46697}"/>
              </a:ext>
            </a:extLst>
          </p:cNvPr>
          <p:cNvCxnSpPr/>
          <p:nvPr/>
        </p:nvCxnSpPr>
        <p:spPr>
          <a:xfrm>
            <a:off x="0" y="2908064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1CFFAA00-69FC-01C4-9B9B-860BA41D1922}"/>
              </a:ext>
            </a:extLst>
          </p:cNvPr>
          <p:cNvSpPr/>
          <p:nvPr/>
        </p:nvSpPr>
        <p:spPr>
          <a:xfrm rot="5400000">
            <a:off x="9884663" y="2853200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Rounded Rectangle 50">
            <a:extLst>
              <a:ext uri="{FF2B5EF4-FFF2-40B4-BE49-F238E27FC236}">
                <a16:creationId xmlns:a16="http://schemas.microsoft.com/office/drawing/2014/main" id="{927864A5-4023-C370-78A2-5D864A1BBBF1}"/>
              </a:ext>
            </a:extLst>
          </p:cNvPr>
          <p:cNvSpPr/>
          <p:nvPr/>
        </p:nvSpPr>
        <p:spPr>
          <a:xfrm>
            <a:off x="10012679" y="2661176"/>
            <a:ext cx="182880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03_Meta_Silver</a:t>
            </a:r>
          </a:p>
        </p:txBody>
      </p:sp>
      <p:sp>
        <p:nvSpPr>
          <p:cNvPr id="56" name="Rounded Rectangle 51">
            <a:extLst>
              <a:ext uri="{FF2B5EF4-FFF2-40B4-BE49-F238E27FC236}">
                <a16:creationId xmlns:a16="http://schemas.microsoft.com/office/drawing/2014/main" id="{4CD218CF-5CA3-7D39-D168-505FD5C3D645}"/>
              </a:ext>
            </a:extLst>
          </p:cNvPr>
          <p:cNvSpPr/>
          <p:nvPr/>
        </p:nvSpPr>
        <p:spPr>
          <a:xfrm>
            <a:off x="10012679" y="2880632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Read bronze Delta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Dedup + cleanse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MERGE to silver Delta</a:t>
            </a:r>
          </a:p>
        </p:txBody>
      </p:sp>
      <p:sp>
        <p:nvSpPr>
          <p:cNvPr id="57" name="Rounded Rectangle 52">
            <a:extLst>
              <a:ext uri="{FF2B5EF4-FFF2-40B4-BE49-F238E27FC236}">
                <a16:creationId xmlns:a16="http://schemas.microsoft.com/office/drawing/2014/main" id="{3A1FBBFF-3995-9EBE-11A0-CC623935E03D}"/>
              </a:ext>
            </a:extLst>
          </p:cNvPr>
          <p:cNvSpPr/>
          <p:nvPr/>
        </p:nvSpPr>
        <p:spPr>
          <a:xfrm>
            <a:off x="182880" y="3639584"/>
            <a:ext cx="1783080" cy="27432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AI SP to PySpark Converter</a:t>
            </a:r>
          </a:p>
        </p:txBody>
      </p:sp>
      <p:sp>
        <p:nvSpPr>
          <p:cNvPr id="58" name="Rounded Rectangle 53">
            <a:extLst>
              <a:ext uri="{FF2B5EF4-FFF2-40B4-BE49-F238E27FC236}">
                <a16:creationId xmlns:a16="http://schemas.microsoft.com/office/drawing/2014/main" id="{9309E453-97E3-9FC2-C248-BB903AF5548D}"/>
              </a:ext>
            </a:extLst>
          </p:cNvPr>
          <p:cNvSpPr/>
          <p:nvPr/>
        </p:nvSpPr>
        <p:spPr>
          <a:xfrm>
            <a:off x="182880" y="3941336"/>
            <a:ext cx="1783080" cy="50292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OpenAI / Gemini / Claude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Auto-converts SQL SPs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Generates PySpark code</a:t>
            </a:r>
          </a:p>
        </p:txBody>
      </p:sp>
      <p:sp>
        <p:nvSpPr>
          <p:cNvPr id="59" name="Rounded Rectangle 54">
            <a:extLst>
              <a:ext uri="{FF2B5EF4-FFF2-40B4-BE49-F238E27FC236}">
                <a16:creationId xmlns:a16="http://schemas.microsoft.com/office/drawing/2014/main" id="{16EBBF46-621B-A9BF-694D-388AF50B7872}"/>
              </a:ext>
            </a:extLst>
          </p:cNvPr>
          <p:cNvSpPr/>
          <p:nvPr/>
        </p:nvSpPr>
        <p:spPr>
          <a:xfrm>
            <a:off x="182880" y="4553984"/>
            <a:ext cx="1783080" cy="27432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Self-Healing Bot</a:t>
            </a:r>
          </a:p>
        </p:txBody>
      </p:sp>
      <p:sp>
        <p:nvSpPr>
          <p:cNvPr id="60" name="Rounded Rectangle 55">
            <a:extLst>
              <a:ext uri="{FF2B5EF4-FFF2-40B4-BE49-F238E27FC236}">
                <a16:creationId xmlns:a16="http://schemas.microsoft.com/office/drawing/2014/main" id="{9AC01B24-E2F5-FD1C-F608-395B0D0130F0}"/>
              </a:ext>
            </a:extLst>
          </p:cNvPr>
          <p:cNvSpPr/>
          <p:nvPr/>
        </p:nvSpPr>
        <p:spPr>
          <a:xfrm>
            <a:off x="182880" y="4855736"/>
            <a:ext cx="1783080" cy="50292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Auto-retry failed runs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AI-powered error fixing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Notebook auto-repair</a:t>
            </a:r>
          </a:p>
        </p:txBody>
      </p:sp>
      <p:sp>
        <p:nvSpPr>
          <p:cNvPr id="61" name="Rounded Rectangle 56">
            <a:extLst>
              <a:ext uri="{FF2B5EF4-FFF2-40B4-BE49-F238E27FC236}">
                <a16:creationId xmlns:a16="http://schemas.microsoft.com/office/drawing/2014/main" id="{62FFC9C7-B30A-3541-7281-3B7BE2036D05}"/>
              </a:ext>
            </a:extLst>
          </p:cNvPr>
          <p:cNvSpPr/>
          <p:nvPr/>
        </p:nvSpPr>
        <p:spPr>
          <a:xfrm>
            <a:off x="2240280" y="3639584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62" name="Rounded Rectangle 57">
            <a:extLst>
              <a:ext uri="{FF2B5EF4-FFF2-40B4-BE49-F238E27FC236}">
                <a16:creationId xmlns:a16="http://schemas.microsoft.com/office/drawing/2014/main" id="{DE0E052B-11EE-E043-94C5-0D70C3F4F76B}"/>
              </a:ext>
            </a:extLst>
          </p:cNvPr>
          <p:cNvSpPr/>
          <p:nvPr/>
        </p:nvSpPr>
        <p:spPr>
          <a:xfrm>
            <a:off x="2240280" y="3913904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PAT tokens for API auth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ODBC-escaped credentials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Encrypted JDBC (TLS)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UC RBAC per catalog</a:t>
            </a:r>
          </a:p>
        </p:txBody>
      </p:sp>
      <p:sp>
        <p:nvSpPr>
          <p:cNvPr id="63" name="Rounded Rectangle 58">
            <a:extLst>
              <a:ext uri="{FF2B5EF4-FFF2-40B4-BE49-F238E27FC236}">
                <a16:creationId xmlns:a16="http://schemas.microsoft.com/office/drawing/2014/main" id="{29B47370-764F-C994-FE18-73C65DA1F96A}"/>
              </a:ext>
            </a:extLst>
          </p:cNvPr>
          <p:cNvSpPr/>
          <p:nvPr/>
        </p:nvSpPr>
        <p:spPr>
          <a:xfrm>
            <a:off x="4572000" y="3639584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64" name="Rounded Rectangle 59">
            <a:extLst>
              <a:ext uri="{FF2B5EF4-FFF2-40B4-BE49-F238E27FC236}">
                <a16:creationId xmlns:a16="http://schemas.microsoft.com/office/drawing/2014/main" id="{502B93DF-B04D-4635-5E85-1E77109BA358}"/>
              </a:ext>
            </a:extLst>
          </p:cNvPr>
          <p:cNvSpPr/>
          <p:nvPr/>
        </p:nvSpPr>
        <p:spPr>
          <a:xfrm>
            <a:off x="4572000" y="3913904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Unity Catalog metadata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Catalog-level isolation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versioning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Full audit trail</a:t>
            </a:r>
          </a:p>
        </p:txBody>
      </p:sp>
      <p:sp>
        <p:nvSpPr>
          <p:cNvPr id="65" name="Rounded Rectangle 60">
            <a:extLst>
              <a:ext uri="{FF2B5EF4-FFF2-40B4-BE49-F238E27FC236}">
                <a16:creationId xmlns:a16="http://schemas.microsoft.com/office/drawing/2014/main" id="{0641D7AC-573C-417D-0CB9-869AA1053248}"/>
              </a:ext>
            </a:extLst>
          </p:cNvPr>
          <p:cNvSpPr/>
          <p:nvPr/>
        </p:nvSpPr>
        <p:spPr>
          <a:xfrm>
            <a:off x="6903720" y="3639584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66" name="Rounded Rectangle 61">
            <a:extLst>
              <a:ext uri="{FF2B5EF4-FFF2-40B4-BE49-F238E27FC236}">
                <a16:creationId xmlns:a16="http://schemas.microsoft.com/office/drawing/2014/main" id="{FC41E3B6-1FA7-9A43-0010-3F1B8DF85970}"/>
              </a:ext>
            </a:extLst>
          </p:cNvPr>
          <p:cNvSpPr/>
          <p:nvPr/>
        </p:nvSpPr>
        <p:spPr>
          <a:xfrm>
            <a:off x="6903720" y="3913904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All paths have try/except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Break on first failure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Error payloads captured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Incremental watermarks</a:t>
            </a:r>
          </a:p>
        </p:txBody>
      </p:sp>
      <p:sp>
        <p:nvSpPr>
          <p:cNvPr id="67" name="Rounded Rectangle 62">
            <a:extLst>
              <a:ext uri="{FF2B5EF4-FFF2-40B4-BE49-F238E27FC236}">
                <a16:creationId xmlns:a16="http://schemas.microsoft.com/office/drawing/2014/main" id="{6544C190-B2E6-60AF-E5B4-4CB4C962481D}"/>
              </a:ext>
            </a:extLst>
          </p:cNvPr>
          <p:cNvSpPr/>
          <p:nvPr/>
        </p:nvSpPr>
        <p:spPr>
          <a:xfrm>
            <a:off x="9235440" y="3639584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Scalability</a:t>
            </a:r>
          </a:p>
        </p:txBody>
      </p:sp>
      <p:sp>
        <p:nvSpPr>
          <p:cNvPr id="68" name="Rounded Rectangle 63">
            <a:extLst>
              <a:ext uri="{FF2B5EF4-FFF2-40B4-BE49-F238E27FC236}">
                <a16:creationId xmlns:a16="http://schemas.microsoft.com/office/drawing/2014/main" id="{97F0CE39-8A5C-7143-D9DC-8B7ECE6367E4}"/>
              </a:ext>
            </a:extLst>
          </p:cNvPr>
          <p:cNvSpPr/>
          <p:nvPr/>
        </p:nvSpPr>
        <p:spPr>
          <a:xfrm>
            <a:off x="9235440" y="3913904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Metadata-driven config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Spark distributed proc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MERGE upserts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Extensible to Gold</a:t>
            </a:r>
          </a:p>
        </p:txBody>
      </p:sp>
      <p:sp>
        <p:nvSpPr>
          <p:cNvPr id="69" name="Rounded Rectangle 64">
            <a:extLst>
              <a:ext uri="{FF2B5EF4-FFF2-40B4-BE49-F238E27FC236}">
                <a16:creationId xmlns:a16="http://schemas.microsoft.com/office/drawing/2014/main" id="{D4F7BF05-1667-EFB8-F5C9-F919747F29DD}"/>
              </a:ext>
            </a:extLst>
          </p:cNvPr>
          <p:cNvSpPr/>
          <p:nvPr/>
        </p:nvSpPr>
        <p:spPr>
          <a:xfrm>
            <a:off x="182880" y="4645424"/>
            <a:ext cx="5029200" cy="2286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70" name="Rounded Rectangle 65">
            <a:extLst>
              <a:ext uri="{FF2B5EF4-FFF2-40B4-BE49-F238E27FC236}">
                <a16:creationId xmlns:a16="http://schemas.microsoft.com/office/drawing/2014/main" id="{0F8C231D-1AC2-383B-926E-F69A4A784637}"/>
              </a:ext>
            </a:extLst>
          </p:cNvPr>
          <p:cNvSpPr/>
          <p:nvPr/>
        </p:nvSpPr>
        <p:spPr>
          <a:xfrm>
            <a:off x="182880" y="4901456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Azure SQL Server</a:t>
            </a:r>
          </a:p>
        </p:txBody>
      </p:sp>
      <p:sp>
        <p:nvSpPr>
          <p:cNvPr id="71" name="Rounded Rectangle 66">
            <a:extLst>
              <a:ext uri="{FF2B5EF4-FFF2-40B4-BE49-F238E27FC236}">
                <a16:creationId xmlns:a16="http://schemas.microsoft.com/office/drawing/2014/main" id="{4EBB10D5-E14F-1697-A4AC-76CDFE949905}"/>
              </a:ext>
            </a:extLst>
          </p:cNvPr>
          <p:cNvSpPr/>
          <p:nvPr/>
        </p:nvSpPr>
        <p:spPr>
          <a:xfrm>
            <a:off x="1920240" y="4901456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HR source database (5 dimension tables)</a:t>
            </a:r>
          </a:p>
        </p:txBody>
      </p:sp>
      <p:sp>
        <p:nvSpPr>
          <p:cNvPr id="72" name="Rounded Rectangle 67">
            <a:extLst>
              <a:ext uri="{FF2B5EF4-FFF2-40B4-BE49-F238E27FC236}">
                <a16:creationId xmlns:a16="http://schemas.microsoft.com/office/drawing/2014/main" id="{71AA0F0C-9497-2C65-FC46-F01B5D60042F}"/>
              </a:ext>
            </a:extLst>
          </p:cNvPr>
          <p:cNvSpPr/>
          <p:nvPr/>
        </p:nvSpPr>
        <p:spPr>
          <a:xfrm>
            <a:off x="182880" y="5102624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Python / Flask</a:t>
            </a:r>
          </a:p>
        </p:txBody>
      </p:sp>
      <p:sp>
        <p:nvSpPr>
          <p:cNvPr id="73" name="Rounded Rectangle 68">
            <a:extLst>
              <a:ext uri="{FF2B5EF4-FFF2-40B4-BE49-F238E27FC236}">
                <a16:creationId xmlns:a16="http://schemas.microsoft.com/office/drawing/2014/main" id="{0FD36612-3356-1DEE-EBA3-3605A9058E39}"/>
              </a:ext>
            </a:extLst>
          </p:cNvPr>
          <p:cNvSpPr/>
          <p:nvPr/>
        </p:nvSpPr>
        <p:spPr>
          <a:xfrm>
            <a:off x="1920240" y="5102624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Web UI: pipeline config, deploy, monitor</a:t>
            </a:r>
          </a:p>
        </p:txBody>
      </p:sp>
      <p:sp>
        <p:nvSpPr>
          <p:cNvPr id="74" name="Rounded Rectangle 69">
            <a:extLst>
              <a:ext uri="{FF2B5EF4-FFF2-40B4-BE49-F238E27FC236}">
                <a16:creationId xmlns:a16="http://schemas.microsoft.com/office/drawing/2014/main" id="{9C162F26-9293-5533-4D41-4758D80A638F}"/>
              </a:ext>
            </a:extLst>
          </p:cNvPr>
          <p:cNvSpPr/>
          <p:nvPr/>
        </p:nvSpPr>
        <p:spPr>
          <a:xfrm>
            <a:off x="182880" y="5303792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Databricks REST API</a:t>
            </a:r>
          </a:p>
        </p:txBody>
      </p:sp>
      <p:sp>
        <p:nvSpPr>
          <p:cNvPr id="75" name="Rounded Rectangle 70">
            <a:extLst>
              <a:ext uri="{FF2B5EF4-FFF2-40B4-BE49-F238E27FC236}">
                <a16:creationId xmlns:a16="http://schemas.microsoft.com/office/drawing/2014/main" id="{80D68652-09DC-FB8E-51E0-4ED49927DEBB}"/>
              </a:ext>
            </a:extLst>
          </p:cNvPr>
          <p:cNvSpPr/>
          <p:nvPr/>
        </p:nvSpPr>
        <p:spPr>
          <a:xfrm>
            <a:off x="1920240" y="5303792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Job submit (runs/submit) + polling (runs/get)</a:t>
            </a:r>
          </a:p>
        </p:txBody>
      </p:sp>
      <p:sp>
        <p:nvSpPr>
          <p:cNvPr id="76" name="Rounded Rectangle 71">
            <a:extLst>
              <a:ext uri="{FF2B5EF4-FFF2-40B4-BE49-F238E27FC236}">
                <a16:creationId xmlns:a16="http://schemas.microsoft.com/office/drawing/2014/main" id="{7CE5419C-6A80-8994-B6E3-1A916CA743BE}"/>
              </a:ext>
            </a:extLst>
          </p:cNvPr>
          <p:cNvSpPr/>
          <p:nvPr/>
        </p:nvSpPr>
        <p:spPr>
          <a:xfrm>
            <a:off x="182880" y="5504960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UC Volumes</a:t>
            </a:r>
          </a:p>
        </p:txBody>
      </p:sp>
      <p:sp>
        <p:nvSpPr>
          <p:cNvPr id="77" name="Rounded Rectangle 72">
            <a:extLst>
              <a:ext uri="{FF2B5EF4-FFF2-40B4-BE49-F238E27FC236}">
                <a16:creationId xmlns:a16="http://schemas.microsoft.com/office/drawing/2014/main" id="{C8514BE8-01CE-5350-997C-FC2FADECD698}"/>
              </a:ext>
            </a:extLst>
          </p:cNvPr>
          <p:cNvSpPr/>
          <p:nvPr/>
        </p:nvSpPr>
        <p:spPr>
          <a:xfrm>
            <a:off x="1920240" y="5504960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Landing zone: Parquet via JDBC extract</a:t>
            </a:r>
          </a:p>
        </p:txBody>
      </p:sp>
      <p:sp>
        <p:nvSpPr>
          <p:cNvPr id="78" name="Rounded Rectangle 73">
            <a:extLst>
              <a:ext uri="{FF2B5EF4-FFF2-40B4-BE49-F238E27FC236}">
                <a16:creationId xmlns:a16="http://schemas.microsoft.com/office/drawing/2014/main" id="{B7FBB10E-87FF-DA47-E057-DCDA850DF9CF}"/>
              </a:ext>
            </a:extLst>
          </p:cNvPr>
          <p:cNvSpPr/>
          <p:nvPr/>
        </p:nvSpPr>
        <p:spPr>
          <a:xfrm>
            <a:off x="182880" y="5706128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Delta Lake</a:t>
            </a:r>
          </a:p>
        </p:txBody>
      </p:sp>
      <p:sp>
        <p:nvSpPr>
          <p:cNvPr id="79" name="Rounded Rectangle 74">
            <a:extLst>
              <a:ext uri="{FF2B5EF4-FFF2-40B4-BE49-F238E27FC236}">
                <a16:creationId xmlns:a16="http://schemas.microsoft.com/office/drawing/2014/main" id="{E8BD98FB-F7A4-0E5B-3503-20A8927CB3AF}"/>
              </a:ext>
            </a:extLst>
          </p:cNvPr>
          <p:cNvSpPr/>
          <p:nvPr/>
        </p:nvSpPr>
        <p:spPr>
          <a:xfrm>
            <a:off x="1920240" y="5706128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Bronze &amp; Silver managed tables (MERGE)</a:t>
            </a:r>
          </a:p>
        </p:txBody>
      </p:sp>
      <p:sp>
        <p:nvSpPr>
          <p:cNvPr id="80" name="Rounded Rectangle 75">
            <a:extLst>
              <a:ext uri="{FF2B5EF4-FFF2-40B4-BE49-F238E27FC236}">
                <a16:creationId xmlns:a16="http://schemas.microsoft.com/office/drawing/2014/main" id="{79045E66-1385-32F7-3B63-53E1CE35828A}"/>
              </a:ext>
            </a:extLst>
          </p:cNvPr>
          <p:cNvSpPr/>
          <p:nvPr/>
        </p:nvSpPr>
        <p:spPr>
          <a:xfrm>
            <a:off x="182880" y="5907296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ODBC Driver 17</a:t>
            </a:r>
          </a:p>
        </p:txBody>
      </p:sp>
      <p:sp>
        <p:nvSpPr>
          <p:cNvPr id="81" name="Rounded Rectangle 76">
            <a:extLst>
              <a:ext uri="{FF2B5EF4-FFF2-40B4-BE49-F238E27FC236}">
                <a16:creationId xmlns:a16="http://schemas.microsoft.com/office/drawing/2014/main" id="{7BA2BDEF-FF97-C5AD-18F2-FE262F2BCA0E}"/>
              </a:ext>
            </a:extLst>
          </p:cNvPr>
          <p:cNvSpPr/>
          <p:nvPr/>
        </p:nvSpPr>
        <p:spPr>
          <a:xfrm>
            <a:off x="1920240" y="5907296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Local schema discovery &amp; data preview</a:t>
            </a:r>
          </a:p>
        </p:txBody>
      </p:sp>
      <p:sp>
        <p:nvSpPr>
          <p:cNvPr id="82" name="Rounded Rectangle 77">
            <a:extLst>
              <a:ext uri="{FF2B5EF4-FFF2-40B4-BE49-F238E27FC236}">
                <a16:creationId xmlns:a16="http://schemas.microsoft.com/office/drawing/2014/main" id="{5AD1ABE9-C999-6F41-DD8C-ACE9C8C408AB}"/>
              </a:ext>
            </a:extLst>
          </p:cNvPr>
          <p:cNvSpPr/>
          <p:nvPr/>
        </p:nvSpPr>
        <p:spPr>
          <a:xfrm>
            <a:off x="182880" y="6108464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OpenAI/Gemini/Claude</a:t>
            </a:r>
          </a:p>
        </p:txBody>
      </p:sp>
      <p:sp>
        <p:nvSpPr>
          <p:cNvPr id="83" name="Rounded Rectangle 78">
            <a:extLst>
              <a:ext uri="{FF2B5EF4-FFF2-40B4-BE49-F238E27FC236}">
                <a16:creationId xmlns:a16="http://schemas.microsoft.com/office/drawing/2014/main" id="{4FE9074C-A52A-9487-F103-4FEB32549042}"/>
              </a:ext>
            </a:extLst>
          </p:cNvPr>
          <p:cNvSpPr/>
          <p:nvPr/>
        </p:nvSpPr>
        <p:spPr>
          <a:xfrm>
            <a:off x="1920240" y="6108464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SP to PySpark AI conversion engine</a:t>
            </a:r>
          </a:p>
        </p:txBody>
      </p:sp>
      <p:sp>
        <p:nvSpPr>
          <p:cNvPr id="84" name="Rounded Rectangle 79">
            <a:extLst>
              <a:ext uri="{FF2B5EF4-FFF2-40B4-BE49-F238E27FC236}">
                <a16:creationId xmlns:a16="http://schemas.microsoft.com/office/drawing/2014/main" id="{6F35C4D3-75E1-39E7-AD0E-769E7428DD89}"/>
              </a:ext>
            </a:extLst>
          </p:cNvPr>
          <p:cNvSpPr/>
          <p:nvPr/>
        </p:nvSpPr>
        <p:spPr>
          <a:xfrm>
            <a:off x="5486400" y="4645424"/>
            <a:ext cx="6492240" cy="2286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End-to-End Data Flow</a:t>
            </a:r>
          </a:p>
        </p:txBody>
      </p:sp>
      <p:sp>
        <p:nvSpPr>
          <p:cNvPr id="85" name="Rounded Rectangle 80">
            <a:extLst>
              <a:ext uri="{FF2B5EF4-FFF2-40B4-BE49-F238E27FC236}">
                <a16:creationId xmlns:a16="http://schemas.microsoft.com/office/drawing/2014/main" id="{5419363D-5DD5-36F8-E598-4B83377DABCB}"/>
              </a:ext>
            </a:extLst>
          </p:cNvPr>
          <p:cNvSpPr/>
          <p:nvPr/>
        </p:nvSpPr>
        <p:spPr>
          <a:xfrm>
            <a:off x="5623560" y="4965464"/>
            <a:ext cx="822960" cy="4572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Azure
SQL</a:t>
            </a:r>
          </a:p>
        </p:txBody>
      </p:sp>
      <p:cxnSp>
        <p:nvCxnSpPr>
          <p:cNvPr id="86" name="Connector 81">
            <a:extLst>
              <a:ext uri="{FF2B5EF4-FFF2-40B4-BE49-F238E27FC236}">
                <a16:creationId xmlns:a16="http://schemas.microsoft.com/office/drawing/2014/main" id="{4C708044-5718-71E0-5531-F0C1B4C5DBB9}"/>
              </a:ext>
            </a:extLst>
          </p:cNvPr>
          <p:cNvCxnSpPr/>
          <p:nvPr/>
        </p:nvCxnSpPr>
        <p:spPr>
          <a:xfrm>
            <a:off x="6446520" y="5194064"/>
            <a:ext cx="54864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Isosceles Triangle 86">
            <a:extLst>
              <a:ext uri="{FF2B5EF4-FFF2-40B4-BE49-F238E27FC236}">
                <a16:creationId xmlns:a16="http://schemas.microsoft.com/office/drawing/2014/main" id="{93DE431A-A8E6-3ADF-4D67-FD79D1F3A2DC}"/>
              </a:ext>
            </a:extLst>
          </p:cNvPr>
          <p:cNvSpPr/>
          <p:nvPr/>
        </p:nvSpPr>
        <p:spPr>
          <a:xfrm rot="5400000">
            <a:off x="6483096" y="5139200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8" name="Rounded Rectangle 83">
            <a:extLst>
              <a:ext uri="{FF2B5EF4-FFF2-40B4-BE49-F238E27FC236}">
                <a16:creationId xmlns:a16="http://schemas.microsoft.com/office/drawing/2014/main" id="{F936233B-6F7B-7871-6C59-DA0DBC5ED0E5}"/>
              </a:ext>
            </a:extLst>
          </p:cNvPr>
          <p:cNvSpPr/>
          <p:nvPr/>
        </p:nvSpPr>
        <p:spPr>
          <a:xfrm>
            <a:off x="6611112" y="4965464"/>
            <a:ext cx="822960" cy="4572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JDBC
Extract</a:t>
            </a:r>
          </a:p>
        </p:txBody>
      </p:sp>
      <p:cxnSp>
        <p:nvCxnSpPr>
          <p:cNvPr id="89" name="Connector 84">
            <a:extLst>
              <a:ext uri="{FF2B5EF4-FFF2-40B4-BE49-F238E27FC236}">
                <a16:creationId xmlns:a16="http://schemas.microsoft.com/office/drawing/2014/main" id="{FB3F566C-2093-44C1-B015-F647EF750B72}"/>
              </a:ext>
            </a:extLst>
          </p:cNvPr>
          <p:cNvCxnSpPr/>
          <p:nvPr/>
        </p:nvCxnSpPr>
        <p:spPr>
          <a:xfrm>
            <a:off x="7434072" y="5194064"/>
            <a:ext cx="54864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98C435FD-A346-53A6-C319-E67B2DE7C132}"/>
              </a:ext>
            </a:extLst>
          </p:cNvPr>
          <p:cNvSpPr/>
          <p:nvPr/>
        </p:nvSpPr>
        <p:spPr>
          <a:xfrm rot="5400000">
            <a:off x="7470648" y="5139200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1" name="Rounded Rectangle 86">
            <a:extLst>
              <a:ext uri="{FF2B5EF4-FFF2-40B4-BE49-F238E27FC236}">
                <a16:creationId xmlns:a16="http://schemas.microsoft.com/office/drawing/2014/main" id="{448FC068-E2EF-0490-FEB8-A95322087866}"/>
              </a:ext>
            </a:extLst>
          </p:cNvPr>
          <p:cNvSpPr/>
          <p:nvPr/>
        </p:nvSpPr>
        <p:spPr>
          <a:xfrm>
            <a:off x="7598664" y="4965464"/>
            <a:ext cx="822960" cy="457200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UC Volumes
Landing</a:t>
            </a:r>
          </a:p>
        </p:txBody>
      </p:sp>
      <p:cxnSp>
        <p:nvCxnSpPr>
          <p:cNvPr id="92" name="Connector 87">
            <a:extLst>
              <a:ext uri="{FF2B5EF4-FFF2-40B4-BE49-F238E27FC236}">
                <a16:creationId xmlns:a16="http://schemas.microsoft.com/office/drawing/2014/main" id="{7392CC0A-C9EC-9E1B-5984-D67E4CA3D69E}"/>
              </a:ext>
            </a:extLst>
          </p:cNvPr>
          <p:cNvCxnSpPr/>
          <p:nvPr/>
        </p:nvCxnSpPr>
        <p:spPr>
          <a:xfrm>
            <a:off x="8421624" y="5194064"/>
            <a:ext cx="54864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3FC246C1-C806-BD43-77FF-B0558498DB2D}"/>
              </a:ext>
            </a:extLst>
          </p:cNvPr>
          <p:cNvSpPr/>
          <p:nvPr/>
        </p:nvSpPr>
        <p:spPr>
          <a:xfrm rot="5400000">
            <a:off x="8458200" y="5139200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4" name="Rounded Rectangle 89">
            <a:extLst>
              <a:ext uri="{FF2B5EF4-FFF2-40B4-BE49-F238E27FC236}">
                <a16:creationId xmlns:a16="http://schemas.microsoft.com/office/drawing/2014/main" id="{599014A8-158F-DBBA-9767-9CB9A2E06640}"/>
              </a:ext>
            </a:extLst>
          </p:cNvPr>
          <p:cNvSpPr/>
          <p:nvPr/>
        </p:nvSpPr>
        <p:spPr>
          <a:xfrm>
            <a:off x="8586216" y="4965464"/>
            <a:ext cx="822960" cy="457200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Bronze
Delta</a:t>
            </a:r>
          </a:p>
        </p:txBody>
      </p:sp>
      <p:cxnSp>
        <p:nvCxnSpPr>
          <p:cNvPr id="95" name="Connector 90">
            <a:extLst>
              <a:ext uri="{FF2B5EF4-FFF2-40B4-BE49-F238E27FC236}">
                <a16:creationId xmlns:a16="http://schemas.microsoft.com/office/drawing/2014/main" id="{F43467DF-AA4F-B629-041C-5373453E4DC6}"/>
              </a:ext>
            </a:extLst>
          </p:cNvPr>
          <p:cNvCxnSpPr/>
          <p:nvPr/>
        </p:nvCxnSpPr>
        <p:spPr>
          <a:xfrm>
            <a:off x="9409176" y="5194064"/>
            <a:ext cx="54864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Isosceles Triangle 95">
            <a:extLst>
              <a:ext uri="{FF2B5EF4-FFF2-40B4-BE49-F238E27FC236}">
                <a16:creationId xmlns:a16="http://schemas.microsoft.com/office/drawing/2014/main" id="{C6FB613C-EEA5-A5BF-11F8-C2A835BDE6BC}"/>
              </a:ext>
            </a:extLst>
          </p:cNvPr>
          <p:cNvSpPr/>
          <p:nvPr/>
        </p:nvSpPr>
        <p:spPr>
          <a:xfrm rot="5400000">
            <a:off x="9445752" y="5139200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7" name="Rounded Rectangle 92">
            <a:extLst>
              <a:ext uri="{FF2B5EF4-FFF2-40B4-BE49-F238E27FC236}">
                <a16:creationId xmlns:a16="http://schemas.microsoft.com/office/drawing/2014/main" id="{E4ADF1CD-971E-4118-6B30-42973BC5D58C}"/>
              </a:ext>
            </a:extLst>
          </p:cNvPr>
          <p:cNvSpPr/>
          <p:nvPr/>
        </p:nvSpPr>
        <p:spPr>
          <a:xfrm>
            <a:off x="9573768" y="4965464"/>
            <a:ext cx="822960" cy="457200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Silver
Delta</a:t>
            </a:r>
          </a:p>
        </p:txBody>
      </p:sp>
      <p:cxnSp>
        <p:nvCxnSpPr>
          <p:cNvPr id="98" name="Connector 93">
            <a:extLst>
              <a:ext uri="{FF2B5EF4-FFF2-40B4-BE49-F238E27FC236}">
                <a16:creationId xmlns:a16="http://schemas.microsoft.com/office/drawing/2014/main" id="{2C58FB60-316A-5C52-E4F1-CFEB79E64180}"/>
              </a:ext>
            </a:extLst>
          </p:cNvPr>
          <p:cNvCxnSpPr/>
          <p:nvPr/>
        </p:nvCxnSpPr>
        <p:spPr>
          <a:xfrm>
            <a:off x="10396728" y="5194064"/>
            <a:ext cx="54864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Isosceles Triangle 98">
            <a:extLst>
              <a:ext uri="{FF2B5EF4-FFF2-40B4-BE49-F238E27FC236}">
                <a16:creationId xmlns:a16="http://schemas.microsoft.com/office/drawing/2014/main" id="{8F7B11F1-32ED-2988-B78B-22534A3116B2}"/>
              </a:ext>
            </a:extLst>
          </p:cNvPr>
          <p:cNvSpPr/>
          <p:nvPr/>
        </p:nvSpPr>
        <p:spPr>
          <a:xfrm rot="5400000">
            <a:off x="10433304" y="5139200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0" name="Rounded Rectangle 95">
            <a:extLst>
              <a:ext uri="{FF2B5EF4-FFF2-40B4-BE49-F238E27FC236}">
                <a16:creationId xmlns:a16="http://schemas.microsoft.com/office/drawing/2014/main" id="{FE1115FF-F4C8-36EF-3C1B-B3E46D5CC29B}"/>
              </a:ext>
            </a:extLst>
          </p:cNvPr>
          <p:cNvSpPr/>
          <p:nvPr/>
        </p:nvSpPr>
        <p:spPr>
          <a:xfrm>
            <a:off x="10561320" y="4965464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Gold
(Future)</a:t>
            </a:r>
          </a:p>
        </p:txBody>
      </p:sp>
      <p:sp>
        <p:nvSpPr>
          <p:cNvPr id="101" name="Rounded Rectangle 96">
            <a:extLst>
              <a:ext uri="{FF2B5EF4-FFF2-40B4-BE49-F238E27FC236}">
                <a16:creationId xmlns:a16="http://schemas.microsoft.com/office/drawing/2014/main" id="{D6073683-DB71-58AB-DD71-0DF827C7A19D}"/>
              </a:ext>
            </a:extLst>
          </p:cNvPr>
          <p:cNvSpPr/>
          <p:nvPr/>
        </p:nvSpPr>
        <p:spPr>
          <a:xfrm>
            <a:off x="5486400" y="5514104"/>
            <a:ext cx="6492240" cy="2286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04C5427-3BFA-CFC5-66A2-C8BA022767FD}"/>
              </a:ext>
            </a:extLst>
          </p:cNvPr>
          <p:cNvSpPr txBox="1"/>
          <p:nvPr/>
        </p:nvSpPr>
        <p:spPr>
          <a:xfrm>
            <a:off x="5623560" y="5770137"/>
            <a:ext cx="62179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333333"/>
                </a:solidFill>
              </a:rPr>
              <a:t>Gold Layer: aggregated KPIs for BI dashboards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FA7216F-B366-50A6-39BF-57677BC3A89F}"/>
              </a:ext>
            </a:extLst>
          </p:cNvPr>
          <p:cNvSpPr txBox="1"/>
          <p:nvPr/>
        </p:nvSpPr>
        <p:spPr>
          <a:xfrm>
            <a:off x="5623560" y="5953017"/>
            <a:ext cx="62179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333333"/>
                </a:solidFill>
              </a:rPr>
              <a:t>Secret Mgmt: Databricks Secrets / Azure Key Vault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8886750-1FD0-9A3C-161C-43CD74FAAD44}"/>
              </a:ext>
            </a:extLst>
          </p:cNvPr>
          <p:cNvSpPr txBox="1"/>
          <p:nvPr/>
        </p:nvSpPr>
        <p:spPr>
          <a:xfrm>
            <a:off x="5623560" y="6135897"/>
            <a:ext cx="62179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333333"/>
                </a:solidFill>
              </a:rPr>
              <a:t>CI/CD: Azure DevOps / GitHub Actions notebook deploy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C0EC7D9-F6E3-8D64-0997-4EA8E79B59FB}"/>
              </a:ext>
            </a:extLst>
          </p:cNvPr>
          <p:cNvSpPr txBox="1"/>
          <p:nvPr/>
        </p:nvSpPr>
        <p:spPr>
          <a:xfrm>
            <a:off x="5623560" y="6318777"/>
            <a:ext cx="62179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333333"/>
                </a:solidFill>
              </a:rPr>
              <a:t>DQ Framework: Great Expectations at Silver layer</a:t>
            </a:r>
          </a:p>
        </p:txBody>
      </p:sp>
    </p:spTree>
    <p:extLst>
      <p:ext uri="{BB962C8B-B14F-4D97-AF65-F5344CB8AC3E}">
        <p14:creationId xmlns:p14="http://schemas.microsoft.com/office/powerpoint/2010/main" val="140867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899D39-B8C2-9663-E65A-42E5A6EC7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37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97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847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0"/>
            <a:ext cx="609584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4def53c-905d-442a-ba22-72ae0f5bcf4f}" enabled="1" method="Standard" siteId="{6c637512-c417-4e78-9d62-b61258e4b6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1888</Words>
  <Application>Microsoft Office PowerPoint</Application>
  <PresentationFormat>Widescreen</PresentationFormat>
  <Paragraphs>384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DBx Migration Suite </vt:lpstr>
      <vt:lpstr>Medallion Architecture</vt:lpstr>
      <vt:lpstr>PowerPoint Presentation</vt:lpstr>
      <vt:lpstr>PowerPoint Presentation</vt:lpstr>
      <vt:lpstr>Reference Architecture  --  SQL Server to Databricks Unity Catalog  |  Metadata-Driven Medallion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Sunil Kumar</cp:lastModifiedBy>
  <cp:revision>7</cp:revision>
  <dcterms:created xsi:type="dcterms:W3CDTF">2013-01-27T09:14:16Z</dcterms:created>
  <dcterms:modified xsi:type="dcterms:W3CDTF">2026-03-22T05:20:17Z</dcterms:modified>
  <cp:category/>
</cp:coreProperties>
</file>