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64008"/>
            <a:ext cx="7589520" cy="2743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1000" b="1">
                <a:solidFill>
                  <a:srgbClr val="0D1117"/>
                </a:solidFill>
              </a:defRPr>
            </a:pPr>
            <a:r>
              <a:t>GO-TO-MARKET OFFER  |  SQL → DATABRICKS  |  MIGRATION ACCELERATOR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11480"/>
            <a:ext cx="7315200" cy="457200"/>
          </a:xfrm>
          <a:prstGeom prst="rect">
            <a:avLst/>
          </a:prstGeom>
          <a:noFill/>
        </p:spPr>
        <p:txBody>
          <a:bodyPr wrap="square" lIns="10160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SQL → Databricks </a:t>
            </a:r>
            <a:r>
              <a:rPr sz="2200" b="1">
                <a:solidFill>
                  <a:srgbClr val="00D4AA"/>
                </a:solidFill>
              </a:rPr>
              <a:t>Migration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4672"/>
            <a:ext cx="7315200" cy="411480"/>
          </a:xfrm>
          <a:prstGeom prst="rect">
            <a:avLst/>
          </a:prstGeom>
          <a:noFill/>
        </p:spPr>
        <p:txBody>
          <a:bodyPr wrap="square" lIns="101600" rIns="0" tIns="0" bIns="0">
            <a:spAutoFit/>
          </a:bodyPr>
          <a:lstStyle/>
          <a:p>
            <a:pPr>
              <a:defRPr sz="800">
                <a:solidFill>
                  <a:srgbClr val="AABBCC"/>
                </a:solidFill>
              </a:defRPr>
            </a:pPr>
            <a:r>
              <a:t>Accelerate migration from legacy SQL to Databricks Lakehouse — reducing risk, cost, and timeline through automation, validation, and governed configuration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393192"/>
            <a:ext cx="3977639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431292"/>
            <a:ext cx="3977639" cy="83058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Operating Model, Not Just a Tool</a:t>
            </a:r>
          </a:p>
          <a:p>
            <a:pPr algn="l">
              <a:spcBef>
                <a:spcPts val="300"/>
              </a:spcBef>
              <a:defRPr sz="800" b="0">
                <a:solidFill>
                  <a:srgbClr val="AABBCC"/>
                </a:solidFill>
              </a:defRPr>
            </a:pPr>
            <a:r>
              <a:t>An end-to-end, standardized, repeatable migration engine: assessment, schema conversion, code translation, data transfer, validation, and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38328"/>
            <a:ext cx="128016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POSITIONING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53312"/>
            <a:ext cx="379476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91412"/>
            <a:ext cx="3794760" cy="1955292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Why migration gets stuck</a:t>
            </a:r>
          </a:p>
          <a:p>
            <a:pPr algn="l"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</a:rPr>
              <a:t>Custom code cycle</a:t>
            </a:r>
          </a:p>
          <a:p>
            <a:pPr algn="l">
              <a:spcBef>
                <a:spcPts val="100"/>
              </a:spcBef>
              <a:defRPr sz="750" b="0">
                <a:solidFill>
                  <a:srgbClr val="AABBCC"/>
                </a:solidFill>
              </a:defRPr>
            </a:pPr>
            <a:r>
              <a:t>Every new source creates another manual migration script and deployment path.</a:t>
            </a:r>
          </a:p>
          <a:p>
            <a:pPr algn="l"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</a:rPr>
              <a:t>High technical debt</a:t>
            </a:r>
          </a:p>
          <a:p>
            <a:pPr algn="l">
              <a:spcBef>
                <a:spcPts val="100"/>
              </a:spcBef>
              <a:defRPr sz="750" b="0">
                <a:solidFill>
                  <a:srgbClr val="AABBCC"/>
                </a:solidFill>
              </a:defRPr>
            </a:pPr>
            <a:r>
              <a:t>SSIS, stored procs, and tightly coupled ETL slow delivery and increase risk.</a:t>
            </a:r>
          </a:p>
          <a:p>
            <a:pPr algn="l">
              <a:spcBef>
                <a:spcPts val="500"/>
              </a:spcBef>
            </a:pPr>
            <a:r>
              <a:rPr sz="900" b="1">
                <a:solidFill>
                  <a:srgbClr val="FFFFFF"/>
                </a:solidFill>
              </a:rPr>
              <a:t>Weak governance</a:t>
            </a:r>
          </a:p>
          <a:p>
            <a:pPr algn="l">
              <a:spcBef>
                <a:spcPts val="100"/>
              </a:spcBef>
              <a:defRPr sz="750" b="0">
                <a:solidFill>
                  <a:srgbClr val="AABBCC"/>
                </a:solidFill>
              </a:defRPr>
            </a:pPr>
            <a:r>
              <a:t>DQ, lineage, auditing, and PII handling are inconsistent across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316736"/>
            <a:ext cx="123444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MARKET PAIN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51376" y="1353312"/>
            <a:ext cx="3886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51376" y="1391412"/>
            <a:ext cx="3886200" cy="1955292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From Legacy to Lakehouse</a:t>
            </a:r>
          </a:p>
          <a:p>
            <a:pPr algn="l">
              <a:spcBef>
                <a:spcPts val="500"/>
              </a:spcBef>
            </a:pPr>
            <a:r>
              <a:rPr sz="800" b="1">
                <a:solidFill>
                  <a:srgbClr val="00D4AA"/>
                </a:solidFill>
              </a:rPr>
              <a:t>Assessment</a:t>
            </a:r>
            <a:r>
              <a:rPr sz="800" b="0">
                <a:solidFill>
                  <a:srgbClr val="AABBCC"/>
                </a:solidFill>
              </a:rPr>
              <a:t> → </a:t>
            </a:r>
            <a:r>
              <a:rPr sz="800" b="1">
                <a:solidFill>
                  <a:srgbClr val="00D4AA"/>
                </a:solidFill>
              </a:rPr>
              <a:t>Migration Engine</a:t>
            </a:r>
            <a:r>
              <a:rPr sz="800" b="0">
                <a:solidFill>
                  <a:srgbClr val="AABBCC"/>
                </a:solidFill>
              </a:rPr>
              <a:t> → </a:t>
            </a:r>
            <a:r>
              <a:rPr sz="800" b="1">
                <a:solidFill>
                  <a:srgbClr val="00D4AA"/>
                </a:solidFill>
              </a:rPr>
              <a:t>Business Value</a:t>
            </a:r>
          </a:p>
          <a:p>
            <a:pPr algn="l">
              <a:spcBef>
                <a:spcPts val="300"/>
              </a:spcBef>
            </a:pPr>
            <a:r>
              <a:rPr sz="800" b="1">
                <a:solidFill>
                  <a:srgbClr val="FFFFFF"/>
                </a:solidFill>
              </a:rPr>
              <a:t>Sources</a:t>
            </a:r>
            <a:r>
              <a:rPr sz="750" b="0">
                <a:solidFill>
                  <a:srgbClr val="AABBCC"/>
                </a:solidFill>
              </a:rPr>
              <a:t>  SQL Server / Oracle / Teradata / APIs</a:t>
            </a:r>
          </a:p>
          <a:p>
            <a:pPr algn="l">
              <a:spcBef>
                <a:spcPts val="300"/>
              </a:spcBef>
            </a:pPr>
            <a:r>
              <a:rPr sz="800" b="1">
                <a:solidFill>
                  <a:srgbClr val="FFFFFF"/>
                </a:solidFill>
              </a:rPr>
              <a:t>Migration Pipelines</a:t>
            </a:r>
            <a:r>
              <a:rPr sz="750" b="0">
                <a:solidFill>
                  <a:srgbClr val="AABBCC"/>
                </a:solidFill>
              </a:rPr>
              <a:t>  schema + code + data conversion</a:t>
            </a:r>
          </a:p>
          <a:p>
            <a:pPr algn="l">
              <a:spcBef>
                <a:spcPts val="300"/>
              </a:spcBef>
            </a:pPr>
            <a:r>
              <a:rPr sz="800" b="1">
                <a:solidFill>
                  <a:srgbClr val="FFFFFF"/>
                </a:solidFill>
              </a:rPr>
              <a:t>Medallion</a:t>
            </a:r>
            <a:r>
              <a:rPr sz="750" b="0">
                <a:solidFill>
                  <a:srgbClr val="AABBCC"/>
                </a:solidFill>
              </a:rPr>
              <a:t>  Bronze / Silver / Gold (Delta Lake)</a:t>
            </a:r>
          </a:p>
          <a:p>
            <a:pPr algn="l">
              <a:spcBef>
                <a:spcPts val="300"/>
              </a:spcBef>
            </a:pPr>
            <a:r>
              <a:rPr sz="800" b="1">
                <a:solidFill>
                  <a:srgbClr val="FFFFFF"/>
                </a:solidFill>
              </a:rPr>
              <a:t>Value</a:t>
            </a:r>
            <a:r>
              <a:rPr sz="750" b="0">
                <a:solidFill>
                  <a:srgbClr val="AABBCC"/>
                </a:solidFill>
              </a:rPr>
              <a:t>  Power BI / AI / ML / 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1316736"/>
            <a:ext cx="182880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GTM SOLUTION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2" y="1353312"/>
            <a:ext cx="379476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65592" y="1391412"/>
            <a:ext cx="3794760" cy="1955292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ROI Proof Points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00D4AA"/>
                </a:solidFill>
              </a:rPr>
              <a:t>50–60%</a:t>
            </a:r>
            <a:r>
              <a:rPr sz="800" b="0">
                <a:solidFill>
                  <a:srgbClr val="AABBCC"/>
                </a:solidFill>
              </a:rPr>
              <a:t> faster migration through automation &amp; reusable templates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00D4AA"/>
                </a:solidFill>
              </a:rPr>
              <a:t>20–35%</a:t>
            </a:r>
            <a:r>
              <a:rPr sz="800" b="0">
                <a:solidFill>
                  <a:srgbClr val="AABBCC"/>
                </a:solidFill>
              </a:rPr>
              <a:t> cost reduction via optimized data movement &amp; pay-as-you-go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00D4AA"/>
                </a:solidFill>
              </a:rPr>
              <a:t>30–50%</a:t>
            </a:r>
            <a:r>
              <a:rPr sz="800" b="0">
                <a:solidFill>
                  <a:srgbClr val="AABBCC"/>
                </a:solidFill>
              </a:rPr>
              <a:t> fewer incidents with standardized validation &amp; reconciliation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316736"/>
            <a:ext cx="150876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BUSINESS IMPACT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456432"/>
            <a:ext cx="11731752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494532"/>
            <a:ext cx="11731752" cy="128778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SQL → Databricks BOM Architecture  </a:t>
            </a:r>
            <a:r>
              <a:rPr sz="800">
                <a:solidFill>
                  <a:srgbClr val="AABBCC"/>
                </a:solidFill>
              </a:rPr>
              <a:t>Six structured layers enabling seamless, end-to-end migration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" y="3419856"/>
            <a:ext cx="228600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SOLUTION BOM LAYERS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" y="3959352"/>
            <a:ext cx="2788920" cy="621792"/>
          </a:xfrm>
          <a:prstGeom prst="roundRect">
            <a:avLst/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25400"/>
          <a:lstStyle/>
          <a:p>
            <a:pPr algn="ctr">
              <a:defRPr sz="900" b="1">
                <a:solidFill>
                  <a:srgbClr val="00D4AA"/>
                </a:solidFill>
              </a:defRPr>
            </a:pPr>
            <a:r>
              <a:t>Assessment Layer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AABBCC"/>
                </a:solidFill>
              </a:defRPr>
            </a:pPr>
            <a:r>
              <a:t>Discovery, data profiling,</a:t>
            </a:r>
            <a:br/>
            <a:r>
              <a:t>dependency mapping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91256" y="3959352"/>
            <a:ext cx="2788920" cy="621792"/>
          </a:xfrm>
          <a:prstGeom prst="roundRect">
            <a:avLst/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25400"/>
          <a:lstStyle/>
          <a:p>
            <a:pPr algn="ctr">
              <a:defRPr sz="900" b="1">
                <a:solidFill>
                  <a:srgbClr val="E91E8C"/>
                </a:solidFill>
              </a:defRPr>
            </a:pPr>
            <a:r>
              <a:t>Migration Layer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AABBCC"/>
                </a:solidFill>
              </a:defRPr>
            </a:pPr>
            <a:r>
              <a:t>Schema conversion, stored proc</a:t>
            </a:r>
            <a:br/>
            <a:r>
              <a:t>transformation, ETL refactoring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959352"/>
            <a:ext cx="2788920" cy="621792"/>
          </a:xfrm>
          <a:prstGeom prst="roundRect">
            <a:avLst/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25400"/>
          <a:lstStyle/>
          <a:p>
            <a:pPr algn="ctr">
              <a:defRPr sz="900" b="1">
                <a:solidFill>
                  <a:srgbClr val="00D4AA"/>
                </a:solidFill>
              </a:defRPr>
            </a:pPr>
            <a:r>
              <a:t>Validation &amp; Data Layer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AABBCC"/>
                </a:solidFill>
              </a:defRPr>
            </a:pPr>
            <a:r>
              <a:t>Automated testing, reconciliation,</a:t>
            </a:r>
            <a:br/>
            <a:r>
              <a:t>bulk transfer, CDC 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4" y="3959352"/>
            <a:ext cx="2788920" cy="621792"/>
          </a:xfrm>
          <a:prstGeom prst="roundRect">
            <a:avLst/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25400"/>
          <a:lstStyle/>
          <a:p>
            <a:pPr algn="ctr">
              <a:defRPr sz="900" b="1">
                <a:solidFill>
                  <a:srgbClr val="E91E8C"/>
                </a:solidFill>
              </a:defRPr>
            </a:pPr>
            <a:r>
              <a:t>Platform &amp; Integration</a:t>
            </a:r>
          </a:p>
          <a:p>
            <a:pPr algn="ctr">
              <a:spcBef>
                <a:spcPts val="200"/>
              </a:spcBef>
              <a:defRPr sz="700" b="0">
                <a:solidFill>
                  <a:srgbClr val="AABBCC"/>
                </a:solidFill>
              </a:defRPr>
            </a:pPr>
            <a:r>
              <a:t>Delta Lake, Unity Catalog,</a:t>
            </a:r>
            <a:br/>
            <a:r>
              <a:t>Power BI, APIs, analytics 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892040"/>
            <a:ext cx="379476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930140"/>
            <a:ext cx="3794760" cy="1406652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Where to Sell First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Data Platform Heads</a:t>
            </a:r>
            <a:r>
              <a:rPr sz="750" b="0">
                <a:solidFill>
                  <a:srgbClr val="AABBCC"/>
                </a:solidFill>
              </a:rPr>
              <a:t>  modernize legacy SQL estates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Analytics Leaders</a:t>
            </a:r>
            <a:r>
              <a:rPr sz="750" b="0">
                <a:solidFill>
                  <a:srgbClr val="AABBCC"/>
                </a:solidFill>
              </a:rPr>
              <a:t>  faster reporting on Databricks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Governance Teams</a:t>
            </a:r>
            <a:r>
              <a:rPr sz="750" b="0">
                <a:solidFill>
                  <a:srgbClr val="AABBCC"/>
                </a:solidFill>
              </a:rPr>
              <a:t>  Unity Catalog, lineage, DQ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AI/ML Teams</a:t>
            </a:r>
            <a:r>
              <a:rPr sz="750" b="0">
                <a:solidFill>
                  <a:srgbClr val="AABBCC"/>
                </a:solidFill>
              </a:rPr>
              <a:t>  AI-ready curated lakehouse layers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855464"/>
            <a:ext cx="219456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IDEAL BUYERS &amp; ENTRY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1376" y="4892040"/>
            <a:ext cx="3886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51376" y="4930140"/>
            <a:ext cx="3886200" cy="1406652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Commercial Motion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</a:rPr>
              <a:t>1. Discovery &amp; Assessment</a:t>
            </a:r>
          </a:p>
          <a:p>
            <a:pPr algn="l">
              <a:spcBef>
                <a:spcPts val="100"/>
              </a:spcBef>
              <a:defRPr sz="750" b="0">
                <a:solidFill>
                  <a:srgbClr val="AABBCC"/>
                </a:solidFill>
              </a:defRPr>
            </a:pPr>
            <a:r>
              <a:t>   Source complexity, DQ gaps, roadmap, ROI baseline. POC in 2–4 weeks.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</a:rPr>
              <a:t>2. Pilot Domain Migration</a:t>
            </a:r>
          </a:p>
          <a:p>
            <a:pPr algn="l">
              <a:spcBef>
                <a:spcPts val="100"/>
              </a:spcBef>
              <a:defRPr sz="750" b="0">
                <a:solidFill>
                  <a:srgbClr val="AABBCC"/>
                </a:solidFill>
              </a:defRPr>
            </a:pPr>
            <a:r>
              <a:t>   Deploy workspace, migrate one domain: schema, code, data, validation.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FFFFFF"/>
                </a:solidFill>
              </a:rPr>
              <a:t>3. Scale-Out Factory</a:t>
            </a:r>
          </a:p>
          <a:p>
            <a:pPr algn="l">
              <a:spcBef>
                <a:spcPts val="100"/>
              </a:spcBef>
              <a:defRPr sz="750" b="0">
                <a:solidFill>
                  <a:srgbClr val="AABBCC"/>
                </a:solidFill>
              </a:defRPr>
            </a:pPr>
            <a:r>
              <a:t>   Add domains by configuration; enable monitoring, governance, support.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51376" y="4855464"/>
            <a:ext cx="201168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PACKAGED GTM OFFERS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4892040"/>
            <a:ext cx="379476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65592" y="4930140"/>
            <a:ext cx="3794760" cy="1406652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381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Why This Wins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Automated Conversion</a:t>
            </a:r>
            <a:r>
              <a:rPr sz="750" b="0">
                <a:solidFill>
                  <a:srgbClr val="AABBCC"/>
                </a:solidFill>
              </a:rPr>
              <a:t>  SQL to Delta Lake optimized formats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End-to-End Validation</a:t>
            </a:r>
            <a:r>
              <a:rPr sz="750" b="0">
                <a:solidFill>
                  <a:srgbClr val="AABBCC"/>
                </a:solidFill>
              </a:rPr>
              <a:t>  source-target reconciliation framework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Future AI Ready</a:t>
            </a:r>
            <a:r>
              <a:rPr sz="750" b="0">
                <a:solidFill>
                  <a:srgbClr val="AABBCC"/>
                </a:solidFill>
              </a:rPr>
              <a:t>  Unity Catalog governance + ML-ready layers</a:t>
            </a:r>
          </a:p>
          <a:p>
            <a:pPr algn="l">
              <a:spcBef>
                <a:spcPts val="400"/>
              </a:spcBef>
            </a:pPr>
            <a:r>
              <a:rPr sz="800" b="1">
                <a:solidFill>
                  <a:srgbClr val="00D4AA"/>
                </a:solidFill>
              </a:rPr>
              <a:t>Multi-Platform</a:t>
            </a:r>
            <a:r>
              <a:rPr sz="750" b="0">
                <a:solidFill>
                  <a:srgbClr val="AABBCC"/>
                </a:solidFill>
              </a:rPr>
              <a:t>  SQL Server, Oracle, Teradata, Netezza, DB2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5592" y="4855464"/>
            <a:ext cx="160020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DIFFERENTIATORS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6446520"/>
            <a:ext cx="11731752" cy="320040"/>
          </a:xfrm>
          <a:prstGeom prst="rect">
            <a:avLst/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38100" bIns="25400"/>
          <a:lstStyle/>
          <a:p>
            <a:pPr algn="ctr"/>
            <a:r>
              <a:rPr sz="900" b="1">
                <a:solidFill>
                  <a:srgbClr val="E91E8C"/>
                </a:solidFill>
              </a:rPr>
              <a:t>Next Client Conversation  </a:t>
            </a:r>
            <a:r>
              <a:rPr sz="800">
                <a:solidFill>
                  <a:srgbClr val="AABBCC"/>
                </a:solidFill>
              </a:rPr>
              <a:t>Let us assess your top 5 SQL workloads and show how many can move from legacy to Databricks Lakehouse with automation.   </a:t>
            </a:r>
            <a:r>
              <a:rPr sz="800" b="1">
                <a:solidFill>
                  <a:srgbClr val="00D4AA"/>
                </a:solidFill>
              </a:rPr>
              <a:t>Foundation → Pilot Domain → Scale-Out → Optimize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73152"/>
            <a:ext cx="7589520" cy="27432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defRPr sz="1000" b="1">
                <a:solidFill>
                  <a:srgbClr val="0D1117"/>
                </a:solidFill>
              </a:defRPr>
            </a:pPr>
            <a:r>
              <a:t>ARCHITECTURE DIAGRAM  |  SQL → DATABRICKS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End-to-End Migration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AABBCC"/>
                </a:solidFill>
              </a:defRPr>
            </a:pPr>
            <a:r>
              <a:t>High-level architecture showing source systems, migration engine, Databricks Lakehouse target, and consumption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5146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26820"/>
            <a:ext cx="2514600" cy="256032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76200"/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Source Systems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SQL Server (on-prem / Azure)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Oracle / Teradata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Netezza / DB2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SSIS Packages / ETL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APIs / Flat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33856"/>
            <a:ext cx="146304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86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88720"/>
            <a:ext cx="2514600" cy="38100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26820"/>
            <a:ext cx="2514600" cy="256032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76200"/>
          <a:lstStyle/>
          <a:p>
            <a:pPr algn="ctr">
              <a:defRPr sz="1300" b="1">
                <a:solidFill>
                  <a:srgbClr val="E91E8C"/>
                </a:solidFill>
              </a:defRPr>
            </a:pPr>
            <a:r>
              <a:t>Assessment &amp; Conversion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Data Profiling &amp; Discovery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Schema Conversion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T-SQL → Spark SQL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ETL Refactoring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Dependency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133856"/>
            <a:ext cx="2103120" cy="182880"/>
          </a:xfrm>
          <a:prstGeom prst="round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MIGRATION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286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5146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26820"/>
            <a:ext cx="2514600" cy="256032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76200"/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Target Platform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Delta Lake (Medallion)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  Bronze / Silver / Gold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Unity Catalog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Databricks Workflows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Compute 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33856"/>
            <a:ext cx="2103120" cy="1828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DATABRICKS LAKEHOUSE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2860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88720"/>
            <a:ext cx="2514600" cy="38100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226820"/>
            <a:ext cx="2514600" cy="256032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76200" tIns="76200"/>
          <a:lstStyle/>
          <a:p>
            <a:pPr algn="ctr">
              <a:defRPr sz="1300" b="1">
                <a:solidFill>
                  <a:srgbClr val="E91E8C"/>
                </a:solidFill>
              </a:defRPr>
            </a:pPr>
            <a:r>
              <a:t>Business Value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Power BI Reporting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AI / ML Models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Real-time Streaming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APIs &amp; Applications</a:t>
            </a:r>
          </a:p>
          <a:p>
            <a:pPr>
              <a:spcBef>
                <a:spcPts val="500"/>
              </a:spcBef>
              <a:defRPr sz="1000">
                <a:solidFill>
                  <a:srgbClr val="AABBCC"/>
                </a:solidFill>
              </a:defRPr>
            </a:pPr>
            <a:r>
              <a:t>▸ Self-Service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133856"/>
            <a:ext cx="1463040" cy="182880"/>
          </a:xfrm>
          <a:prstGeom prst="round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>
              <a:defRPr sz="700" b="1">
                <a:solidFill>
                  <a:srgbClr val="0D1117"/>
                </a:solidFill>
              </a:defRPr>
            </a:pPr>
            <a:r>
              <a:t>CONSUMPTION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/>
            <a:r>
              <a:rPr sz="1000" b="1">
                <a:solidFill>
                  <a:srgbClr val="00D4AA"/>
                </a:solidFill>
              </a:rPr>
              <a:t>GOVERNANCE:  </a:t>
            </a:r>
            <a:r>
              <a:rPr sz="900">
                <a:solidFill>
                  <a:srgbClr val="AABBCC"/>
                </a:solidFill>
              </a:rPr>
              <a:t>Unity Catalog  •  Role-Based Access  •  Data Lineage  •  Quality Rules  •  Audit Logging  •  Compliance  •  CDC Replication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11612880" cy="3657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/>
            <a:r>
              <a:rPr sz="1000" b="1">
                <a:solidFill>
                  <a:srgbClr val="E91E8C"/>
                </a:solidFill>
              </a:rPr>
              <a:t>DATA FLOW:  </a:t>
            </a:r>
            <a:r>
              <a:rPr sz="900">
                <a:solidFill>
                  <a:srgbClr val="AABBCC"/>
                </a:solidFill>
              </a:rPr>
              <a:t>Bulk Transfer  •  Incremental Loading  •  Change Data Capture (CDC)  •  Parallel Validation  •  Automated Reconciliation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074920"/>
            <a:ext cx="278892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5113020"/>
            <a:ext cx="2788920" cy="6858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defRPr sz="1000" b="1">
                <a:solidFill>
                  <a:srgbClr val="00D4AA"/>
                </a:solidFill>
              </a:defRPr>
            </a:pPr>
            <a:r>
              <a:t>Assessment Layer</a:t>
            </a:r>
          </a:p>
          <a:p>
            <a:pPr algn="ctr">
              <a:spcBef>
                <a:spcPts val="300"/>
              </a:spcBef>
              <a:defRPr sz="800">
                <a:solidFill>
                  <a:srgbClr val="AABBCC"/>
                </a:solidFill>
              </a:defRPr>
            </a:pPr>
            <a:r>
              <a:t>Discovery, data profiling,</a:t>
            </a:r>
            <a:br/>
            <a:r>
              <a:t>dependency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5074920"/>
            <a:ext cx="2788920" cy="38100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5113020"/>
            <a:ext cx="2788920" cy="6858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Migration Layer</a:t>
            </a:r>
          </a:p>
          <a:p>
            <a:pPr algn="ctr">
              <a:spcBef>
                <a:spcPts val="300"/>
              </a:spcBef>
              <a:defRPr sz="800">
                <a:solidFill>
                  <a:srgbClr val="AABBCC"/>
                </a:solidFill>
              </a:defRPr>
            </a:pPr>
            <a:r>
              <a:t>Schema conversion, stored proc</a:t>
            </a:r>
            <a:br/>
            <a:r>
              <a:t>transformation, ETL refactoring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5074920"/>
            <a:ext cx="278892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5113020"/>
            <a:ext cx="2788920" cy="6858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defRPr sz="1000" b="1">
                <a:solidFill>
                  <a:srgbClr val="00D4AA"/>
                </a:solidFill>
              </a:defRPr>
            </a:pPr>
            <a:r>
              <a:t>Data &amp; Validation</a:t>
            </a:r>
          </a:p>
          <a:p>
            <a:pPr algn="ctr">
              <a:spcBef>
                <a:spcPts val="300"/>
              </a:spcBef>
              <a:defRPr sz="800">
                <a:solidFill>
                  <a:srgbClr val="AABBCC"/>
                </a:solidFill>
              </a:defRPr>
            </a:pPr>
            <a:r>
              <a:t>Bulk transfer, CDC, automated</a:t>
            </a:r>
            <a:br/>
            <a:r>
              <a:t>testing, reconciliation, DQ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416" y="5074920"/>
            <a:ext cx="2788920" cy="38100"/>
          </a:xfrm>
          <a:prstGeom prst="rect">
            <a:avLst/>
          </a:prstGeom>
          <a:solidFill>
            <a:srgbClr val="E91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5113020"/>
            <a:ext cx="2788920" cy="6858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defRPr sz="1000" b="1">
                <a:solidFill>
                  <a:srgbClr val="E91E8C"/>
                </a:solidFill>
              </a:defRPr>
            </a:pPr>
            <a:r>
              <a:t>Platform &amp; Integration</a:t>
            </a:r>
          </a:p>
          <a:p>
            <a:pPr algn="ctr">
              <a:spcBef>
                <a:spcPts val="300"/>
              </a:spcBef>
              <a:defRPr sz="800">
                <a:solidFill>
                  <a:srgbClr val="AABBCC"/>
                </a:solidFill>
              </a:defRPr>
            </a:pPr>
            <a:r>
              <a:t>Delta Lake, Unity Catalog,</a:t>
            </a:r>
            <a:br/>
            <a:r>
              <a:t>Power BI, APIs, analytics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solidFill>
            <a:srgbClr val="1A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381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SQL → Databricks Migration Accelerator  |  </a:t>
            </a:r>
            <a:r>
              <a:rPr sz="800">
                <a:solidFill>
                  <a:srgbClr val="AABBCC"/>
                </a:solidFill>
              </a:rPr>
              <a:t>Assessment → Schema → Code → Data → Validation → Go-Live  |  </a:t>
            </a:r>
            <a:r>
              <a:rPr sz="800" b="1">
                <a:solidFill>
                  <a:srgbClr val="00D4AA"/>
                </a:solidFill>
              </a:rPr>
              <a:t>Powered by Databricks Data Intelligence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