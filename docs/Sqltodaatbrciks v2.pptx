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79" r:id="rId3"/>
    <p:sldId id="294" r:id="rId4"/>
    <p:sldId id="288" r:id="rId5"/>
    <p:sldId id="256" r:id="rId6"/>
    <p:sldId id="259" r:id="rId7"/>
    <p:sldId id="262" r:id="rId8"/>
    <p:sldId id="263" r:id="rId9"/>
    <p:sldId id="289" r:id="rId10"/>
    <p:sldId id="267" r:id="rId11"/>
    <p:sldId id="257" r:id="rId12"/>
    <p:sldId id="258" r:id="rId13"/>
    <p:sldId id="290" r:id="rId14"/>
    <p:sldId id="291" r:id="rId15"/>
    <p:sldId id="292" r:id="rId16"/>
    <p:sldId id="293" r:id="rId17"/>
    <p:sldId id="268" r:id="rId18"/>
    <p:sldId id="269" r:id="rId19"/>
    <p:sldId id="270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bg>
      <p:bgPr>
        <a:solidFill>
          <a:schemeClr val="tx1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holding a tablet&#10;&#10;AI-generated content may be incorrect.">
            <a:extLst>
              <a:ext uri="{FF2B5EF4-FFF2-40B4-BE49-F238E27FC236}">
                <a16:creationId xmlns:a16="http://schemas.microsoft.com/office/drawing/2014/main" id="{A6D7D0E2-FF0D-03CD-A6AC-B087631A7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A black and grey logo&#10;&#10;AI-generated content may be incorrect.">
            <a:extLst>
              <a:ext uri="{FF2B5EF4-FFF2-40B4-BE49-F238E27FC236}">
                <a16:creationId xmlns:a16="http://schemas.microsoft.com/office/drawing/2014/main" id="{E9BED8C5-21D0-5E95-3E11-6796136B97A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0587" y="449687"/>
            <a:ext cx="2322551" cy="853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685A90-3EA4-42E0-566A-4DCF384CAF44}"/>
              </a:ext>
            </a:extLst>
          </p:cNvPr>
          <p:cNvSpPr txBox="1"/>
          <p:nvPr userDrawn="1"/>
        </p:nvSpPr>
        <p:spPr>
          <a:xfrm>
            <a:off x="11480257" y="6427650"/>
            <a:ext cx="859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8F57A718-7638-AA4D-9012-BBF5E9D5FCFE}" type="slidenum">
              <a:rPr lang="en-US" sz="1200" b="0" i="0" smtClean="0">
                <a:solidFill>
                  <a:srgbClr val="E0E0E0"/>
                </a:solidFill>
                <a:latin typeface="+mn-lt"/>
                <a:cs typeface="Verdana"/>
              </a:rPr>
              <a:t>‹#›</a:t>
            </a:fld>
            <a:endParaRPr lang="en-US" sz="1200" b="0" i="0" dirty="0" err="1">
              <a:solidFill>
                <a:srgbClr val="E0E0E0"/>
              </a:solidFill>
              <a:latin typeface="+mn-lt"/>
              <a:cs typeface="Verdana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152F7AF-244E-897D-1101-54321DAF8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363" y="1575840"/>
            <a:ext cx="5640788" cy="1745864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l">
              <a:defRPr sz="5067" b="1" i="0" spc="-173" baseline="0">
                <a:solidFill>
                  <a:srgbClr val="000000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1FA0630-F5C6-7401-D8E1-EC95BB2B9F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363" y="3357880"/>
            <a:ext cx="5640787" cy="48125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 spc="0" baseline="0">
                <a:solidFill>
                  <a:srgbClr val="000000"/>
                </a:solidFill>
                <a:latin typeface="+mn-lt"/>
                <a:cs typeface="Verdana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Holder 6">
            <a:extLst>
              <a:ext uri="{FF2B5EF4-FFF2-40B4-BE49-F238E27FC236}">
                <a16:creationId xmlns:a16="http://schemas.microsoft.com/office/drawing/2014/main" id="{CD76FB51-A1BA-BF6E-5CC2-E90971301149}"/>
              </a:ext>
            </a:extLst>
          </p:cNvPr>
          <p:cNvSpPr txBox="1">
            <a:spLocks/>
          </p:cNvSpPr>
          <p:nvPr userDrawn="1"/>
        </p:nvSpPr>
        <p:spPr>
          <a:xfrm>
            <a:off x="319772" y="6509003"/>
            <a:ext cx="4876800" cy="164148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kern="0"/>
            </a:defPPr>
            <a:lvl1pPr algn="r"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1" dirty="0">
                <a:solidFill>
                  <a:srgbClr val="8C8C8C"/>
                </a:solidFill>
                <a:effectLst/>
                <a:latin typeface="+mn-lt"/>
                <a:cs typeface="Arial" panose="020B0604020202020204" pitchFamily="34" charset="0"/>
              </a:rPr>
              <a:t>Insight Proprietary &amp; Confidential.</a:t>
            </a:r>
            <a:r>
              <a:rPr lang="en-US" sz="800" b="0" i="1" baseline="0" dirty="0">
                <a:solidFill>
                  <a:srgbClr val="8C8C8C"/>
                </a:solidFill>
                <a:effectLst/>
                <a:latin typeface="+mn-lt"/>
                <a:cs typeface="Arial" panose="020B0604020202020204" pitchFamily="34" charset="0"/>
              </a:rPr>
              <a:t> Do Not Copy or Distribute. </a:t>
            </a:r>
            <a:r>
              <a:rPr lang="en-US" sz="800" b="0" i="1" kern="1200" dirty="0">
                <a:solidFill>
                  <a:srgbClr val="8C8C8C"/>
                </a:solidFill>
                <a:latin typeface="+mn-lt"/>
                <a:ea typeface="+mn-ea"/>
                <a:cs typeface="Arial" panose="020B0604020202020204" pitchFamily="34" charset="0"/>
              </a:rPr>
              <a:t>© 2026 Insight</a:t>
            </a:r>
            <a:r>
              <a:rPr lang="en-US" sz="800" b="0" i="1" baseline="0" dirty="0">
                <a:solidFill>
                  <a:srgbClr val="8C8C8C"/>
                </a:solidFill>
                <a:effectLst/>
                <a:latin typeface="+mn-lt"/>
                <a:cs typeface="Arial" panose="020B0604020202020204" pitchFamily="34" charset="0"/>
              </a:rPr>
              <a:t>. All Rights Reserved.</a:t>
            </a:r>
            <a:endParaRPr lang="en-US" sz="800" b="0" i="1" dirty="0">
              <a:solidFill>
                <a:srgbClr val="8C8C8C"/>
              </a:solidFill>
              <a:effectLst/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59824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(Origin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pink spots&#10;&#10;AI-generated content may be incorrect.">
            <a:extLst>
              <a:ext uri="{FF2B5EF4-FFF2-40B4-BE49-F238E27FC236}">
                <a16:creationId xmlns:a16="http://schemas.microsoft.com/office/drawing/2014/main" id="{4FBB883D-2A4C-9154-1EF6-345BF82858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91867" y="1"/>
            <a:ext cx="5300133" cy="4703988"/>
          </a:xfrm>
          <a:prstGeom prst="rect">
            <a:avLst/>
          </a:prstGeom>
        </p:spPr>
      </p:pic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973312" y="6547105"/>
            <a:ext cx="2804160" cy="164148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1067">
                <a:solidFill>
                  <a:schemeClr val="tx1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and grey logo&#10;&#10;AI-generated content may be incorrect.">
            <a:extLst>
              <a:ext uri="{FF2B5EF4-FFF2-40B4-BE49-F238E27FC236}">
                <a16:creationId xmlns:a16="http://schemas.microsoft.com/office/drawing/2014/main" id="{1C723F17-201A-79E8-D3AE-1886428CA1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237" y="6370320"/>
            <a:ext cx="1327171" cy="487680"/>
          </a:xfrm>
          <a:prstGeom prst="rect">
            <a:avLst/>
          </a:prstGeom>
        </p:spPr>
      </p:pic>
      <p:sp>
        <p:nvSpPr>
          <p:cNvPr id="10" name="Holder 2">
            <a:extLst>
              <a:ext uri="{FF2B5EF4-FFF2-40B4-BE49-F238E27FC236}">
                <a16:creationId xmlns:a16="http://schemas.microsoft.com/office/drawing/2014/main" id="{0113C8FD-4E9B-8BDA-4110-C3A9B26CD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92691"/>
            <a:ext cx="11338560" cy="868471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>
              <a:defRPr sz="2933" b="1" spc="-107" baseline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BCB9191-8441-7969-6BAA-2EF0BBB8A4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519582"/>
            <a:ext cx="11338560" cy="4703988"/>
          </a:xfrm>
          <a:prstGeom prst="rect">
            <a:avLst/>
          </a:prstGeom>
        </p:spPr>
        <p:txBody>
          <a:bodyPr>
            <a:noAutofit/>
          </a:bodyPr>
          <a:lstStyle>
            <a:lvl1pPr marL="228594" indent="-228594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+mn-lt"/>
              </a:defRPr>
            </a:lvl1pPr>
            <a:lvl2pPr marL="505834" indent="-228594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+mn-lt"/>
              </a:defRPr>
            </a:lvl2pPr>
            <a:lvl3pPr marL="783072" indent="-228594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+mn-lt"/>
              </a:defRPr>
            </a:lvl3pPr>
            <a:lvl4pPr marL="1060312" indent="-228594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+mn-lt"/>
              </a:defRPr>
            </a:lvl4pPr>
            <a:lvl5pPr marL="1337551" indent="-228594"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97498B6-84F0-22B7-58EF-D66D9CCFE0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2337" y="322825"/>
            <a:ext cx="4159972" cy="16414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lnSpc>
                <a:spcPct val="100000"/>
              </a:lnSpc>
              <a:defRPr sz="1067" b="1" cap="all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EYEBROW</a:t>
            </a:r>
          </a:p>
        </p:txBody>
      </p:sp>
      <p:sp>
        <p:nvSpPr>
          <p:cNvPr id="2" name="Holder 6">
            <a:extLst>
              <a:ext uri="{FF2B5EF4-FFF2-40B4-BE49-F238E27FC236}">
                <a16:creationId xmlns:a16="http://schemas.microsoft.com/office/drawing/2014/main" id="{74B6CD8D-FC4F-199B-700C-ECAD82A6E0E7}"/>
              </a:ext>
            </a:extLst>
          </p:cNvPr>
          <p:cNvSpPr txBox="1">
            <a:spLocks/>
          </p:cNvSpPr>
          <p:nvPr userDrawn="1"/>
        </p:nvSpPr>
        <p:spPr>
          <a:xfrm>
            <a:off x="2013936" y="6547103"/>
            <a:ext cx="4876800" cy="164148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kern="0"/>
            </a:defPPr>
            <a:lvl1pPr algn="r"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1" dirty="0">
                <a:solidFill>
                  <a:srgbClr val="9C968E"/>
                </a:solidFill>
                <a:effectLst/>
                <a:latin typeface="+mn-lt"/>
                <a:cs typeface="Arial" panose="020B0604020202020204" pitchFamily="34" charset="0"/>
              </a:rPr>
              <a:t>Insight Proprietary &amp; Confidential.</a:t>
            </a:r>
            <a:r>
              <a:rPr lang="en-US" sz="800" b="0" i="1" baseline="0" dirty="0">
                <a:solidFill>
                  <a:srgbClr val="9C968E"/>
                </a:solidFill>
                <a:effectLst/>
                <a:latin typeface="+mn-lt"/>
                <a:cs typeface="Arial" panose="020B0604020202020204" pitchFamily="34" charset="0"/>
              </a:rPr>
              <a:t> Do Not Copy or Distribute. </a:t>
            </a:r>
            <a:r>
              <a:rPr lang="en-US" sz="800" b="0" i="1" kern="1200" dirty="0">
                <a:solidFill>
                  <a:srgbClr val="9C968E"/>
                </a:solidFill>
                <a:latin typeface="+mn-lt"/>
                <a:ea typeface="+mn-ea"/>
                <a:cs typeface="Arial" panose="020B0604020202020204" pitchFamily="34" charset="0"/>
              </a:rPr>
              <a:t>© 2026 Insight</a:t>
            </a:r>
            <a:r>
              <a:rPr lang="en-US" sz="800" b="0" i="1" baseline="0" dirty="0">
                <a:solidFill>
                  <a:srgbClr val="9C968E"/>
                </a:solidFill>
                <a:effectLst/>
                <a:latin typeface="+mn-lt"/>
                <a:cs typeface="Arial" panose="020B0604020202020204" pitchFamily="34" charset="0"/>
              </a:rPr>
              <a:t>. All Rights Reserved.</a:t>
            </a:r>
            <a:endParaRPr lang="en-US" sz="800" b="0" i="1" dirty="0">
              <a:solidFill>
                <a:srgbClr val="9C968E"/>
              </a:solidFill>
              <a:effectLst/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387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4E7CE-2F78-D4E9-9942-1EC2BDF05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8363" y="1575840"/>
            <a:ext cx="6143397" cy="1745864"/>
          </a:xfrm>
        </p:spPr>
        <p:txBody>
          <a:bodyPr/>
          <a:lstStyle/>
          <a:p>
            <a:r>
              <a:rPr lang="en-US" dirty="0" err="1"/>
              <a:t>DBx</a:t>
            </a:r>
            <a:r>
              <a:rPr lang="en-US" dirty="0"/>
              <a:t> Migration Suite </a:t>
            </a:r>
          </a:p>
        </p:txBody>
      </p:sp>
    </p:spTree>
    <p:extLst>
      <p:ext uri="{BB962C8B-B14F-4D97-AF65-F5344CB8AC3E}">
        <p14:creationId xmlns:p14="http://schemas.microsoft.com/office/powerpoint/2010/main" val="705571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80F169-1F6E-3727-F0C1-FA537B4E2FC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808112-CE4E-9347-D00A-7AD5FDF01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895" y="1"/>
            <a:ext cx="11338560" cy="868471"/>
          </a:xfrm>
        </p:spPr>
        <p:txBody>
          <a:bodyPr/>
          <a:lstStyle/>
          <a:p>
            <a:r>
              <a:rPr lang="en-GB" dirty="0">
                <a:solidFill>
                  <a:schemeClr val="accent4"/>
                </a:solidFill>
              </a:rPr>
              <a:t>Medallion Architecture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575CCC0-9DBF-249D-B7CF-715B4C13CFBE}"/>
              </a:ext>
            </a:extLst>
          </p:cNvPr>
          <p:cNvGraphicFramePr>
            <a:graphicFrameLocks noGrp="1"/>
          </p:cNvGraphicFramePr>
          <p:nvPr>
            <p:ph sz="quarter" idx="12"/>
          </p:nvPr>
        </p:nvGraphicFramePr>
        <p:xfrm>
          <a:off x="1012457" y="1130409"/>
          <a:ext cx="9993442" cy="3833088"/>
        </p:xfrm>
        <a:graphic>
          <a:graphicData uri="http://schemas.openxmlformats.org/drawingml/2006/table">
            <a:tbl>
              <a:tblPr firstRow="1">
                <a:tableStyleId>{1FECB4D8-DB02-4DC6-A0A2-4F2EBAE1DC90}</a:tableStyleId>
              </a:tblPr>
              <a:tblGrid>
                <a:gridCol w="1449049">
                  <a:extLst>
                    <a:ext uri="{9D8B030D-6E8A-4147-A177-3AD203B41FA5}">
                      <a16:colId xmlns:a16="http://schemas.microsoft.com/office/drawing/2014/main" val="3759845087"/>
                    </a:ext>
                  </a:extLst>
                </a:gridCol>
                <a:gridCol w="1858780">
                  <a:extLst>
                    <a:ext uri="{9D8B030D-6E8A-4147-A177-3AD203B41FA5}">
                      <a16:colId xmlns:a16="http://schemas.microsoft.com/office/drawing/2014/main" val="87406413"/>
                    </a:ext>
                  </a:extLst>
                </a:gridCol>
                <a:gridCol w="2148589">
                  <a:extLst>
                    <a:ext uri="{9D8B030D-6E8A-4147-A177-3AD203B41FA5}">
                      <a16:colId xmlns:a16="http://schemas.microsoft.com/office/drawing/2014/main" val="2751283564"/>
                    </a:ext>
                  </a:extLst>
                </a:gridCol>
                <a:gridCol w="2186155">
                  <a:extLst>
                    <a:ext uri="{9D8B030D-6E8A-4147-A177-3AD203B41FA5}">
                      <a16:colId xmlns:a16="http://schemas.microsoft.com/office/drawing/2014/main" val="130906420"/>
                    </a:ext>
                  </a:extLst>
                </a:gridCol>
                <a:gridCol w="2350869">
                  <a:extLst>
                    <a:ext uri="{9D8B030D-6E8A-4147-A177-3AD203B41FA5}">
                      <a16:colId xmlns:a16="http://schemas.microsoft.com/office/drawing/2014/main" val="2952335153"/>
                    </a:ext>
                  </a:extLst>
                </a:gridCol>
              </a:tblGrid>
              <a:tr h="318916"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BRONZE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SILVER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GOLD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PLATINUM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8486058"/>
                  </a:ext>
                </a:extLst>
              </a:tr>
              <a:tr h="39359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Ingest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121920" marR="121920" marT="12192" marB="121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Cleanse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121920" marR="121920" marT="12192" marB="121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Transform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121920" marR="121920" marT="12192" marB="121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Consolidate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121920" marR="121920" marT="12192" marB="121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563730"/>
                  </a:ext>
                </a:extLst>
              </a:tr>
              <a:tr h="39359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Auditable Source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Clean Mirror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Integration Hub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The Presentation Mart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109727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Data Engineers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Ingestion &amp; Audit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Ingestion &amp; Archiving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Transformation &amp; Quality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Define, Build, Optimize &amp; Deliver Models, Visuals &amp; Prompt Response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986066"/>
                  </a:ext>
                </a:extLst>
              </a:tr>
              <a:tr h="533481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Data Scientists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/>
                        <a:t>Deep Forensic Investigation</a:t>
                      </a:r>
                      <a:endParaRPr lang="en-US" sz="1200"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Exploratory Data Analysis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Exploration &amp; Feature Engineering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Model Training &amp; Business  Consumption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330512"/>
                  </a:ext>
                </a:extLst>
              </a:tr>
              <a:tr h="494941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AI Engineers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Not usable</a:t>
                      </a:r>
                      <a:endParaRPr lang="en-US" sz="1200" dirty="0"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Deep Data Discovery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Building Training Datasets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Enable AI, PBI, ML use cases</a:t>
                      </a:r>
                      <a:endParaRPr lang="en-US" sz="12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2809504"/>
                  </a:ext>
                </a:extLst>
              </a:tr>
              <a:tr h="49967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Report Engineers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/>
                        <a:t>Not usable</a:t>
                      </a:r>
                      <a:endParaRPr lang="en-US" sz="1200"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usable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Query</a:t>
                      </a:r>
                      <a:endParaRPr lang="en-US" sz="120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</a:rPr>
                        <a:t>Build dashboards &amp; visuals</a:t>
                      </a:r>
                      <a:endParaRPr 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63302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solidFill>
                            <a:schemeClr val="tx1"/>
                          </a:solidFill>
                        </a:rPr>
                        <a:t>Business Analysis</a:t>
                      </a:r>
                      <a:endParaRPr lang="en-US" sz="120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Not usable</a:t>
                      </a:r>
                      <a:endParaRPr lang="en-US" sz="1200" dirty="0">
                        <a:latin typeface="+mj-lt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usable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Diagnostic analysis, why something happened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Proactive, predictive, automated decision making &amp; forecasting</a:t>
                      </a:r>
                      <a:endParaRPr lang="en-US" sz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1280" marR="81280" marT="81280" marB="812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238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302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02920"/>
          </a:xfrm>
          <a:prstGeom prst="roundRect">
            <a:avLst>
              <a:gd name="adj" fmla="val 8000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Reference Architecture  —  SQL Server → Databricks Unity Catalog Migration Studio  |  v2.0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0" y="502920"/>
            <a:ext cx="12191695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00" b="1">
                <a:solidFill>
                  <a:srgbClr val="0D47A1"/>
                </a:solidFill>
              </a:rPr>
              <a:t>14 UI Pages  •  85+ API Endpoints  •  Metadata-Driven Medallion  •  CDC/DLT  •  Self-Healing  •  Auto Infrastructure  •  Data Quality  •  Reconciliation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822960"/>
            <a:ext cx="1371600" cy="27432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Azure SQL / SQL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1124712"/>
            <a:ext cx="1371600" cy="640080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4 Source Types: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Azure SQL Database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SQL Server (on-prem)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SQL Managed Instance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Synapse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828800"/>
            <a:ext cx="1371600" cy="201168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00" b="1">
                <a:solidFill>
                  <a:srgbClr val="FFFFFF"/>
                </a:solidFill>
              </a:rPr>
              <a:t>SPs  •  Views  •  UDFs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" y="2057400"/>
            <a:ext cx="1371600" cy="320040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AI SP Converter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OpenAI / Gemini / Claude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SQL → PySpark notebooks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1325880"/>
            <a:ext cx="118872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1655064" y="1271016"/>
            <a:ext cx="128016" cy="109728"/>
          </a:xfrm>
          <a:prstGeom prst="triangl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783080" y="822960"/>
            <a:ext cx="1828800" cy="274320"/>
          </a:xfrm>
          <a:prstGeom prst="roundRect">
            <a:avLst>
              <a:gd name="adj" fmla="val 8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Migration Studio (Flask)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3080" y="1124712"/>
            <a:ext cx="1828800" cy="1252728"/>
          </a:xfrm>
          <a:prstGeom prst="roundRect">
            <a:avLst>
              <a:gd name="adj" fmla="val 4000"/>
            </a:avLst>
          </a:prstGeom>
          <a:solidFill>
            <a:srgbClr val="F3E5F5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AI Workflow Manager (14 pages)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─────────────────────────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Pipeline Studio + Job Manager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MetadataFlow orchestration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Auto-init from deployconfig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Notebook gen &amp; deploy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Databricks job submit + poll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CDC / DLT mode config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Self-Healing Bot (auto-fix)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Progress Tracker (7 steps)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• Reports &amp; Email alerts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1325880"/>
            <a:ext cx="210311" cy="0"/>
          </a:xfrm>
          <a:prstGeom prst="line">
            <a:avLst/>
          </a:prstGeom>
          <a:ln w="2540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5400000">
            <a:off x="3849623" y="1271016"/>
            <a:ext cx="128016" cy="109728"/>
          </a:xfrm>
          <a:prstGeom prst="triangl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10058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</a:rPr>
              <a:t>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777240"/>
            <a:ext cx="8046720" cy="2514600"/>
          </a:xfrm>
          <a:prstGeom prst="roundRect">
            <a:avLst>
              <a:gd name="adj" fmla="val 2000"/>
            </a:avLst>
          </a:prstGeom>
          <a:solidFill>
            <a:srgbClr val="FDFDFD"/>
          </a:solidFill>
          <a:ln w="25400">
            <a:solidFill>
              <a:srgbClr val="FF3E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79" y="80467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3E21"/>
                </a:solidFill>
              </a:rPr>
              <a:t>Databricks Unity Catalog  —  Multi-Catalog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7" y="1051560"/>
            <a:ext cx="1691640" cy="219456"/>
          </a:xfrm>
          <a:prstGeom prst="roundRect">
            <a:avLst>
              <a:gd name="adj" fmla="val 8000"/>
            </a:avLst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dev_volumes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7" y="1289304"/>
            <a:ext cx="1691640" cy="164592"/>
          </a:xfrm>
          <a:prstGeom prst="roundRect">
            <a:avLst>
              <a:gd name="adj" fmla="val 8000"/>
            </a:avLst>
          </a:prstGeom>
          <a:solidFill>
            <a:srgbClr val="ECEFF1"/>
          </a:solidFill>
          <a:ln w="12700">
            <a:solidFill>
              <a:srgbClr val="607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333333"/>
                </a:solidFill>
              </a:rPr>
              <a:t>UC Volumes (Landing)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7" y="1472184"/>
            <a:ext cx="1691640" cy="384048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 w="12700">
            <a:solidFill>
              <a:srgbClr val="607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/Volumes/dev_volumes/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  hr/landing/{table}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Parquet staging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79007" y="1554480"/>
            <a:ext cx="54864" cy="0"/>
          </a:xfrm>
          <a:prstGeom prst="line">
            <a:avLst/>
          </a:prstGeom>
          <a:ln w="25400">
            <a:solidFill>
              <a:srgbClr val="607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5815583" y="1499616"/>
            <a:ext cx="128016" cy="109728"/>
          </a:xfrm>
          <a:prstGeom prst="triangle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943599" y="1051560"/>
            <a:ext cx="1691640" cy="219456"/>
          </a:xfrm>
          <a:prstGeom prst="roundRect">
            <a:avLst>
              <a:gd name="adj" fmla="val 8000"/>
            </a:avLst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599" y="1289304"/>
            <a:ext cx="1691640" cy="164592"/>
          </a:xfrm>
          <a:prstGeom prst="roundRect">
            <a:avLst>
              <a:gd name="adj" fmla="val 8000"/>
            </a:avLst>
          </a:prstGeom>
          <a:solidFill>
            <a:srgbClr val="FBE9D0"/>
          </a:solidFill>
          <a:ln w="1270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333333"/>
                </a:solidFill>
              </a:rPr>
              <a:t>Bronze (Raw + Audit)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599" y="1472184"/>
            <a:ext cx="1691640" cy="384048"/>
          </a:xfrm>
          <a:prstGeom prst="roundRect">
            <a:avLst>
              <a:gd name="adj" fmla="val 4000"/>
            </a:avLst>
          </a:prstGeom>
          <a:solidFill>
            <a:srgbClr val="FBE9D0"/>
          </a:solidFill>
          <a:ln w="1270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bronze.hr.{table}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Delta Tables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+ audit cols + DQ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35239" y="1554480"/>
            <a:ext cx="54864" cy="0"/>
          </a:xfrm>
          <a:prstGeom prst="line">
            <a:avLst/>
          </a:prstGeom>
          <a:ln w="25400">
            <a:solidFill>
              <a:srgbClr val="CD7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671815" y="1499616"/>
            <a:ext cx="128016" cy="109728"/>
          </a:xfrm>
          <a:prstGeom prst="triangle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799831" y="1051560"/>
            <a:ext cx="1691640" cy="219456"/>
          </a:xfrm>
          <a:prstGeom prst="roundRect">
            <a:avLst>
              <a:gd name="adj" fmla="val 8000"/>
            </a:avLst>
          </a:prstGeom>
          <a:solidFill>
            <a:srgbClr val="AAA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99831" y="1289304"/>
            <a:ext cx="1691640" cy="164592"/>
          </a:xfrm>
          <a:prstGeom prst="roundRect">
            <a:avLst>
              <a:gd name="adj" fmla="val 8000"/>
            </a:avLst>
          </a:prstGeom>
          <a:solidFill>
            <a:srgbClr val="ECEFF1"/>
          </a:solidFill>
          <a:ln w="12700">
            <a:solidFill>
              <a:srgbClr val="AAA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333333"/>
                </a:solidFill>
              </a:rPr>
              <a:t>Silver (Cleansed)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99831" y="1472184"/>
            <a:ext cx="1691640" cy="384048"/>
          </a:xfrm>
          <a:prstGeom prst="roundRect">
            <a:avLst>
              <a:gd name="adj" fmla="val 4000"/>
            </a:avLst>
          </a:prstGeom>
          <a:solidFill>
            <a:srgbClr val="ECEFF1"/>
          </a:solidFill>
          <a:ln w="12700">
            <a:solidFill>
              <a:srgbClr val="AAA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silver.hr.{table}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Dedup + null handling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7-check DQ scoring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91471" y="1554480"/>
            <a:ext cx="54864" cy="0"/>
          </a:xfrm>
          <a:prstGeom prst="line">
            <a:avLst/>
          </a:prstGeom>
          <a:ln w="25400">
            <a:solidFill>
              <a:srgbClr val="AAA9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9528047" y="1499616"/>
            <a:ext cx="128016" cy="109728"/>
          </a:xfrm>
          <a:prstGeom prst="triangle">
            <a:avLst/>
          </a:prstGeom>
          <a:solidFill>
            <a:srgbClr val="AAA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56063" y="1051560"/>
            <a:ext cx="1691640" cy="219456"/>
          </a:xfrm>
          <a:prstGeom prst="roundRect">
            <a:avLst>
              <a:gd name="adj" fmla="val 8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333333"/>
                </a:solidFill>
              </a:rPr>
              <a:t>gold (future)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56063" y="1289304"/>
            <a:ext cx="1691640" cy="164592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333333"/>
                </a:solidFill>
              </a:rPr>
              <a:t>Gold (Business KPIs)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56063" y="1472184"/>
            <a:ext cx="1691640" cy="384048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Aggregated datasets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BI-ready views</a:t>
            </a:r>
          </a:p>
          <a:p>
            <a:pPr>
              <a:spcAft>
                <a:spcPts val="100"/>
              </a:spcAft>
            </a:pPr>
            <a:r>
              <a:rPr sz="650">
                <a:solidFill>
                  <a:srgbClr val="333333"/>
                </a:solidFill>
              </a:rPr>
              <a:t>Power BI / Tableau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87367" y="1920240"/>
            <a:ext cx="7827264" cy="20116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Metadata Delta Tables  •  Reconciliation  •  Logging  •  DQ Metrics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87367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wf_pipeline_metadata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14691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wf_job_metadata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42016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wf_run_history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69340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wf_watermark_metadata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6665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wf_source_tables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23989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Reconciliation.*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851314" y="2139696"/>
            <a:ext cx="1063316" cy="237744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550" b="0">
                <a:solidFill>
                  <a:srgbClr val="333333"/>
                </a:solidFill>
              </a:rPr>
              <a:t>ExecutionLog.*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87367" y="2423160"/>
            <a:ext cx="7827264" cy="201168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Auto-Generated Notebooks  (Standard PySpark  +  DLT Mode  +  CDC)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87367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00_Orchestrator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87367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Chains stages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DLT or Spark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0" y="2880360"/>
            <a:ext cx="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5279135" y="2825496"/>
            <a:ext cx="128016" cy="109728"/>
          </a:xfrm>
          <a:prstGeom prst="triangl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407151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01_Extract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07151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JDBC + Watermark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Parquet → Volumes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0" y="2880360"/>
            <a:ext cx="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6598919" y="2825496"/>
            <a:ext cx="128016" cy="109728"/>
          </a:xfrm>
          <a:prstGeom prst="triangl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726935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02_Bronze/DLT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26935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Landing → Bronze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Audit + DQ checks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0" y="2880360"/>
            <a:ext cx="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5400000">
            <a:off x="7918703" y="2825496"/>
            <a:ext cx="128016" cy="109728"/>
          </a:xfrm>
          <a:prstGeom prst="triangl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8046719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03_Silver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46719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Bronze → Silver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7-check DQ score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0" y="2880360"/>
            <a:ext cx="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Isosceles Triangle 58"/>
          <p:cNvSpPr/>
          <p:nvPr/>
        </p:nvSpPr>
        <p:spPr>
          <a:xfrm rot="5400000">
            <a:off x="9238487" y="2825496"/>
            <a:ext cx="128016" cy="109728"/>
          </a:xfrm>
          <a:prstGeom prst="triangl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366503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04_Reconciliation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66503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Source vs Bronze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SUM per col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0" y="2880360"/>
            <a:ext cx="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10558271" y="2825496"/>
            <a:ext cx="128016" cy="109728"/>
          </a:xfrm>
          <a:prstGeom prst="triangl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10686287" y="2642616"/>
            <a:ext cx="1228344" cy="18288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00" b="1">
                <a:solidFill>
                  <a:srgbClr val="333333"/>
                </a:solidFill>
              </a:rPr>
              <a:t>05_ExecutionLog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686287" y="2843784"/>
            <a:ext cx="1228344" cy="310896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Audit trail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Per-job results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160" y="3520440"/>
            <a:ext cx="1783080" cy="237744"/>
          </a:xfrm>
          <a:prstGeom prst="roundRect">
            <a:avLst>
              <a:gd name="adj" fmla="val 8000"/>
            </a:avLst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Deploy Infrastructure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37160" y="3776472"/>
            <a:ext cx="1783080" cy="713232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AutoInfraCreation (Azure SDK)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1. ADLS Gen2 + HNS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2. Access Connector (MI)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3. RBAC role assignment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4. UC Storage Credential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5. External Locations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6. Catalogs + MANAGED LOC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7. UC Volumes (landing)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7160" y="4572000"/>
            <a:ext cx="850392" cy="201168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Self-Healing Bot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7160" y="4791456"/>
            <a:ext cx="850392" cy="411480"/>
          </a:xfrm>
          <a:prstGeom prst="roundRect">
            <a:avLst>
              <a:gd name="adj" fmla="val 4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Error classification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Auto-retry + backoff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Cluster restart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Restore points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33271" y="4572000"/>
            <a:ext cx="886968" cy="201168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CDC / DLT Engine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33271" y="4791456"/>
            <a:ext cx="886968" cy="411480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Change Tracking CDC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DLT Auto Loader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Watermark-based incr.</a:t>
            </a:r>
          </a:p>
          <a:p>
            <a:pPr>
              <a:spcAft>
                <a:spcPts val="100"/>
              </a:spcAft>
            </a:pPr>
            <a:r>
              <a:rPr sz="550">
                <a:solidFill>
                  <a:srgbClr val="333333"/>
                </a:solidFill>
              </a:rPr>
              <a:t>Primary key config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148840" y="3520440"/>
            <a:ext cx="4389120" cy="237744"/>
          </a:xfrm>
          <a:prstGeom prst="roundRect">
            <a:avLst>
              <a:gd name="adj" fmla="val 8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Migration Studio UI  —  14 Feature-Rich Pages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48840" y="3794760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📊 Dashboard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48840" y="4014216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🔄 MetadataFlow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48840" y="4233672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⚡ Pipeline Studio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148840" y="4453128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📋 Job Manager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148840" y="4672584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📈 Reports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148840" y="4892040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📍 Progress Tracker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48840" y="5111496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🔐 Audit &amp; Compliance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43400" y="3794760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✨ Data Quality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43400" y="4014216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🔀 Schema Comparison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43400" y="4233672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📐 Reconciliation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343400" y="4453128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⚙️ Settings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343400" y="4672584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🔧 Convert to PySpark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343400" y="4892040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🚀 Deploy Notebooks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43400" y="5111496"/>
            <a:ext cx="2121408" cy="201168"/>
          </a:xfrm>
          <a:prstGeom prst="roundRect">
            <a:avLst>
              <a:gd name="adj" fmla="val 8000"/>
            </a:avLst>
          </a:prstGeom>
          <a:solidFill>
            <a:srgbClr val="F3E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50" b="1">
                <a:solidFill>
                  <a:srgbClr val="333333"/>
                </a:solidFill>
              </a:rPr>
              <a:t>📦 Data Migration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766560" y="3520440"/>
            <a:ext cx="1298448" cy="237744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766560" y="3776472"/>
            <a:ext cx="1298448" cy="566928"/>
          </a:xfrm>
          <a:prstGeom prst="roundRect">
            <a:avLst>
              <a:gd name="adj" fmla="val 4000"/>
            </a:avLst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PAT token auth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Encrypted JDBC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UC RBAC per catalog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MANAGED LOCATION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156448" y="3520440"/>
            <a:ext cx="1298448" cy="237744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Governance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56448" y="3776472"/>
            <a:ext cx="1298448" cy="566928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Reconciliation catalog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Execution logging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Delta versioning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Audit trail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546336" y="3520440"/>
            <a:ext cx="1298448" cy="237744"/>
          </a:xfrm>
          <a:prstGeom prst="roundRect">
            <a:avLst>
              <a:gd name="adj" fmla="val 8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Reliability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546336" y="3776472"/>
            <a:ext cx="1298448" cy="566928"/>
          </a:xfrm>
          <a:prstGeom prst="roundRect">
            <a:avLst>
              <a:gd name="adj" fmla="val 4000"/>
            </a:avLst>
          </a:prstGeom>
          <a:solidFill>
            <a:srgbClr val="F3E5F5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Self-healing bot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Per-stage rerun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DQ scoring (12+)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Restore points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936224" y="3520440"/>
            <a:ext cx="1298448" cy="237744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936224" y="3776472"/>
            <a:ext cx="1298448" cy="566928"/>
          </a:xfrm>
          <a:prstGeom prst="roundRect">
            <a:avLst>
              <a:gd name="adj" fmla="val 4000"/>
            </a:avLst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Metadata-driven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DLT + PySpark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Multi-catalog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CDC watermarks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766560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85+  API Endpoints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690104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14  UI Pages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613648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12  Python Modules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37192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6  Notebooks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460736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10+  Healing Actions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384280" y="4407408"/>
            <a:ext cx="850392" cy="219456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12+  DQ Checks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37160" y="5212080"/>
            <a:ext cx="3657600" cy="201168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7160" y="543153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Azure SQL / SQL Server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645920" y="543153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4 source types (Azure SQL, SQL Server, MI, Synapse)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7160" y="561441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Python 3.11 / Flask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645920" y="561441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Web UI + REST API (85+ endpoints)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37160" y="579729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Databricks REST API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45920" y="579729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Job submit, poll, notebook deploy, cluster ops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37160" y="598017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UC Volumes + Delta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645920" y="598017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Landing (Parquet) → Bronze/Silver (Delta)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7160" y="616305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Delta Live Tables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645920" y="616305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DLT Auto Loader + expectations + CDC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37160" y="6345936"/>
            <a:ext cx="150876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1">
                <a:solidFill>
                  <a:srgbClr val="333333"/>
                </a:solidFill>
              </a:rPr>
              <a:t>deployconfig.json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645920" y="6345936"/>
            <a:ext cx="21488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600" b="0">
                <a:solidFill>
                  <a:srgbClr val="333333"/>
                </a:solidFill>
              </a:rPr>
              <a:t>Centralised config — auto-loads on startup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023360" y="5212080"/>
            <a:ext cx="5029200" cy="201168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End-to-End Data Flow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Azure
SQL</a:t>
            </a:r>
          </a:p>
        </p:txBody>
      </p:sp>
      <p:cxnSp>
        <p:nvCxnSpPr>
          <p:cNvPr id="116" name="Connector 115"/>
          <p:cNvCxnSpPr/>
          <p:nvPr/>
        </p:nvCxnSpPr>
        <p:spPr>
          <a:xfrm flipH="1">
            <a:off x="4690872" y="5678424"/>
            <a:ext cx="4572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Isosceles Triangle 116"/>
          <p:cNvSpPr/>
          <p:nvPr/>
        </p:nvSpPr>
        <p:spPr>
          <a:xfrm rot="5400000">
            <a:off x="4672584" y="5623560"/>
            <a:ext cx="128016" cy="109728"/>
          </a:xfrm>
          <a:prstGeom prst="triangl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48006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JDBC
Extract</a:t>
            </a:r>
          </a:p>
        </p:txBody>
      </p:sp>
      <p:cxnSp>
        <p:nvCxnSpPr>
          <p:cNvPr id="119" name="Connector 118"/>
          <p:cNvCxnSpPr/>
          <p:nvPr/>
        </p:nvCxnSpPr>
        <p:spPr>
          <a:xfrm flipH="1">
            <a:off x="5376672" y="5678424"/>
            <a:ext cx="45720" cy="0"/>
          </a:xfrm>
          <a:prstGeom prst="line">
            <a:avLst/>
          </a:prstGeom>
          <a:ln w="25400">
            <a:solidFill>
              <a:srgbClr val="7B1F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Isosceles Triangle 119"/>
          <p:cNvSpPr/>
          <p:nvPr/>
        </p:nvSpPr>
        <p:spPr>
          <a:xfrm rot="5400000">
            <a:off x="5358384" y="5623560"/>
            <a:ext cx="128016" cy="109728"/>
          </a:xfrm>
          <a:prstGeom prst="triangl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54864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Volumes
Landing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6062472" y="5678424"/>
            <a:ext cx="45720" cy="0"/>
          </a:xfrm>
          <a:prstGeom prst="line">
            <a:avLst/>
          </a:prstGeom>
          <a:ln w="25400">
            <a:solidFill>
              <a:srgbClr val="607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/>
          <p:cNvSpPr/>
          <p:nvPr/>
        </p:nvSpPr>
        <p:spPr>
          <a:xfrm rot="5400000">
            <a:off x="6044184" y="5623560"/>
            <a:ext cx="128016" cy="109728"/>
          </a:xfrm>
          <a:prstGeom prst="triangle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ounded Rectangle 123"/>
          <p:cNvSpPr/>
          <p:nvPr/>
        </p:nvSpPr>
        <p:spPr>
          <a:xfrm>
            <a:off x="61722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Bronze
Delta</a:t>
            </a:r>
          </a:p>
        </p:txBody>
      </p:sp>
      <p:cxnSp>
        <p:nvCxnSpPr>
          <p:cNvPr id="125" name="Connector 124"/>
          <p:cNvCxnSpPr/>
          <p:nvPr/>
        </p:nvCxnSpPr>
        <p:spPr>
          <a:xfrm flipH="1">
            <a:off x="6748272" y="5678424"/>
            <a:ext cx="45720" cy="0"/>
          </a:xfrm>
          <a:prstGeom prst="line">
            <a:avLst/>
          </a:prstGeom>
          <a:ln w="25400">
            <a:solidFill>
              <a:srgbClr val="CD7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Isosceles Triangle 125"/>
          <p:cNvSpPr/>
          <p:nvPr/>
        </p:nvSpPr>
        <p:spPr>
          <a:xfrm rot="5400000">
            <a:off x="6729984" y="5623560"/>
            <a:ext cx="128016" cy="109728"/>
          </a:xfrm>
          <a:prstGeom prst="triangle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ounded Rectangle 126"/>
          <p:cNvSpPr/>
          <p:nvPr/>
        </p:nvSpPr>
        <p:spPr>
          <a:xfrm>
            <a:off x="68580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DQ +
Recon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7434072" y="5678424"/>
            <a:ext cx="45720" cy="0"/>
          </a:xfrm>
          <a:prstGeom prst="line">
            <a:avLst/>
          </a:prstGeom>
          <a:ln w="25400">
            <a:solidFill>
              <a:srgbClr val="E65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Isosceles Triangle 128"/>
          <p:cNvSpPr/>
          <p:nvPr/>
        </p:nvSpPr>
        <p:spPr>
          <a:xfrm rot="5400000">
            <a:off x="7415784" y="5623560"/>
            <a:ext cx="128016" cy="109728"/>
          </a:xfrm>
          <a:prstGeom prst="triangl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ounded Rectangle 129"/>
          <p:cNvSpPr/>
          <p:nvPr/>
        </p:nvSpPr>
        <p:spPr>
          <a:xfrm>
            <a:off x="75438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AAA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Silver
Delta</a:t>
            </a:r>
          </a:p>
        </p:txBody>
      </p:sp>
      <p:cxnSp>
        <p:nvCxnSpPr>
          <p:cNvPr id="131" name="Connector 130"/>
          <p:cNvCxnSpPr/>
          <p:nvPr/>
        </p:nvCxnSpPr>
        <p:spPr>
          <a:xfrm flipH="1">
            <a:off x="8119872" y="5678424"/>
            <a:ext cx="45720" cy="0"/>
          </a:xfrm>
          <a:prstGeom prst="line">
            <a:avLst/>
          </a:prstGeom>
          <a:ln w="25400">
            <a:solidFill>
              <a:srgbClr val="AAA9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Isosceles Triangle 131"/>
          <p:cNvSpPr/>
          <p:nvPr/>
        </p:nvSpPr>
        <p:spPr>
          <a:xfrm rot="5400000">
            <a:off x="8101584" y="5623560"/>
            <a:ext cx="128016" cy="109728"/>
          </a:xfrm>
          <a:prstGeom prst="triangle">
            <a:avLst/>
          </a:prstGeom>
          <a:solidFill>
            <a:srgbClr val="AAA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8229600" y="5468112"/>
            <a:ext cx="621792" cy="420624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650" b="1">
                <a:solidFill>
                  <a:srgbClr val="FFFFFF"/>
                </a:solidFill>
              </a:rPr>
              <a:t>Exec
Log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114800" y="5943600"/>
            <a:ext cx="4846320" cy="292608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Standard Mode: Extract → Bronze → Silver (3 stages)  |  DLT Mode: Extract → DLT Bronze+Silver (2 stages)</a:t>
            </a:r>
          </a:p>
          <a:p>
            <a:pPr>
              <a:spcAft>
                <a:spcPts val="100"/>
              </a:spcAft>
            </a:pPr>
            <a:r>
              <a:rPr sz="600">
                <a:solidFill>
                  <a:srgbClr val="333333"/>
                </a:solidFill>
              </a:rPr>
              <a:t>CDC: Change Tracking + Watermark-based incremental  |  Rerun: Per-job rerun from first failure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281160" y="5212080"/>
            <a:ext cx="2743200" cy="201168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Key Integration Points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281160" y="5431536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deployconfig.json — all creds + catalog 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281160" y="5605272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Auto-init on page load (MetadataFlow)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281160" y="5779008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Settings page: Source DB + Metadata loc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281160" y="5952744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Schema Comparison: drift detection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9281160" y="6126480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Data Quality: 12+ checks + __dq_metrics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281160" y="6300216"/>
            <a:ext cx="2743200" cy="16459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l"/>
            <a:r>
              <a:rPr sz="550" b="0">
                <a:solidFill>
                  <a:srgbClr val="333333"/>
                </a:solidFill>
              </a:rPr>
              <a:t>• Reconciliation: SUM validation per col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880" y="6583680"/>
            <a:ext cx="1188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</a:rPr>
              <a:t>SQL → Databricks Migration Studio v2.0  |  Metadata-Driven Medallion  |  CDC + DLT  |  Self-Healing  |  14 UI Pages  |  85+ Endpoints  |  deployconfig.json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DBE0B-A2DE-DB6E-163F-78A94113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1E128-62F7-7C32-8D1E-BD152AF7345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8ACEA4-55D3-6E7D-062A-62E32472B1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D8353D-12AF-62FD-CA4E-8F81DD4D3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08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8740A3-8F57-9E8A-D05F-D78CACDC0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9A9A6-D97B-6EAD-65B6-37EC46534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899D39-B8C2-9663-E65A-42E5A6EC7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8860837-073C-88D8-B9AE-3B93AE23D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40416D-C628-0C7E-E0C1-88DD1C304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1806B1-1747-69AA-5A99-F7EB5B16C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59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537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012DEF-AA97-CE8D-E7C6-5FE7757EE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697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116759-7005-19E0-D7CF-7F2CE861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337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279452-239C-4F60-7328-F12719653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00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A1E806-12B3-7F52-DBAB-67F2A59C0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50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59A612-376A-A126-DC0B-C913A1D8B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37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5847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0"/>
            <a:ext cx="60958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4def53c-905d-442a-ba22-72ae0f5bcf4f}" enabled="1" method="Standard" siteId="{6c637512-c417-4e78-9d62-b61258e4b61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862</Words>
  <Application>Microsoft Office PowerPoint</Application>
  <PresentationFormat>Widescreen</PresentationFormat>
  <Paragraphs>206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DBx Migration Suite </vt:lpstr>
      <vt:lpstr>Medallion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Sunil Kumar</cp:lastModifiedBy>
  <cp:revision>13</cp:revision>
  <dcterms:created xsi:type="dcterms:W3CDTF">2013-01-27T09:14:16Z</dcterms:created>
  <dcterms:modified xsi:type="dcterms:W3CDTF">2026-03-24T11:33:56Z</dcterms:modified>
  <cp:category/>
</cp:coreProperties>
</file>