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9" r:id="rId3"/>
    <p:sldId id="294" r:id="rId4"/>
    <p:sldId id="288" r:id="rId5"/>
    <p:sldId id="256" r:id="rId6"/>
    <p:sldId id="259" r:id="rId7"/>
    <p:sldId id="262" r:id="rId8"/>
    <p:sldId id="263" r:id="rId9"/>
    <p:sldId id="289" r:id="rId10"/>
    <p:sldId id="267" r:id="rId11"/>
    <p:sldId id="257" r:id="rId12"/>
    <p:sldId id="258" r:id="rId13"/>
    <p:sldId id="290" r:id="rId14"/>
    <p:sldId id="291" r:id="rId15"/>
    <p:sldId id="292" r:id="rId16"/>
    <p:sldId id="293" r:id="rId17"/>
    <p:sldId id="268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85A90-3EA4-42E0-566A-4DCF384CAF44}"/>
              </a:ext>
            </a:extLst>
          </p:cNvPr>
          <p:cNvSpPr txBox="1"/>
          <p:nvPr userDrawn="1"/>
        </p:nvSpPr>
        <p:spPr>
          <a:xfrm>
            <a:off x="11480257" y="6427650"/>
            <a:ext cx="859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12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12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5640788" cy="174586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067" b="1" i="0" spc="-173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363" y="3357880"/>
            <a:ext cx="5640787" cy="48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CD76FB51-A1BA-BF6E-5CC2-E90971301149}"/>
              </a:ext>
            </a:extLst>
          </p:cNvPr>
          <p:cNvSpPr txBox="1">
            <a:spLocks/>
          </p:cNvSpPr>
          <p:nvPr userDrawn="1"/>
        </p:nvSpPr>
        <p:spPr>
          <a:xfrm>
            <a:off x="319772" y="65090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82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4FBB883D-2A4C-9154-1EF6-345BF8285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1867" y="1"/>
            <a:ext cx="5300133" cy="4703988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73312" y="6547105"/>
            <a:ext cx="2804160" cy="16414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37" y="6370320"/>
            <a:ext cx="1327171" cy="48768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2691"/>
            <a:ext cx="11338560" cy="86847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933" b="1" spc="-107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CB9191-8441-7969-6BAA-2EF0BBB8A4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519582"/>
            <a:ext cx="11338560" cy="4703988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1pPr>
            <a:lvl2pPr marL="50583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2pPr>
            <a:lvl3pPr marL="78307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3pPr>
            <a:lvl4pPr marL="106031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1337551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97498B6-84F0-22B7-58EF-D66D9CCFE0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337" y="322825"/>
            <a:ext cx="4159972" cy="164148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1067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4B6CD8D-FC4F-199B-700C-ECAD82A6E0E7}"/>
              </a:ext>
            </a:extLst>
          </p:cNvPr>
          <p:cNvSpPr txBox="1">
            <a:spLocks/>
          </p:cNvSpPr>
          <p:nvPr userDrawn="1"/>
        </p:nvSpPr>
        <p:spPr>
          <a:xfrm>
            <a:off x="2013936" y="65471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8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F4E7CE-2F78-D4E9-9942-1EC2BDF0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6143397" cy="1745864"/>
          </a:xfrm>
        </p:spPr>
        <p:txBody>
          <a:bodyPr/>
          <a:lstStyle/>
          <a:p>
            <a:r>
              <a:rPr lang="en-US" dirty="0" err="1"/>
              <a:t>DBx</a:t>
            </a:r>
            <a:r>
              <a:rPr lang="en-US" dirty="0"/>
              <a:t> Migration Suite </a:t>
            </a:r>
          </a:p>
        </p:txBody>
      </p:sp>
    </p:spTree>
    <p:extLst>
      <p:ext uri="{BB962C8B-B14F-4D97-AF65-F5344CB8AC3E}">
        <p14:creationId xmlns:p14="http://schemas.microsoft.com/office/powerpoint/2010/main" val="70557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0F169-1F6E-3727-F0C1-FA537B4E2F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08112-CE4E-9347-D00A-7AD5FDF0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95" y="1"/>
            <a:ext cx="11338560" cy="868471"/>
          </a:xfrm>
        </p:spPr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Medallion Architecture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575CCC0-9DBF-249D-B7CF-715B4C13CFB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1012457" y="1130409"/>
          <a:ext cx="9993442" cy="3833088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1449049">
                  <a:extLst>
                    <a:ext uri="{9D8B030D-6E8A-4147-A177-3AD203B41FA5}">
                      <a16:colId xmlns:a16="http://schemas.microsoft.com/office/drawing/2014/main" val="3759845087"/>
                    </a:ext>
                  </a:extLst>
                </a:gridCol>
                <a:gridCol w="1858780">
                  <a:extLst>
                    <a:ext uri="{9D8B030D-6E8A-4147-A177-3AD203B41FA5}">
                      <a16:colId xmlns:a16="http://schemas.microsoft.com/office/drawing/2014/main" val="87406413"/>
                    </a:ext>
                  </a:extLst>
                </a:gridCol>
                <a:gridCol w="2148589">
                  <a:extLst>
                    <a:ext uri="{9D8B030D-6E8A-4147-A177-3AD203B41FA5}">
                      <a16:colId xmlns:a16="http://schemas.microsoft.com/office/drawing/2014/main" val="2751283564"/>
                    </a:ext>
                  </a:extLst>
                </a:gridCol>
                <a:gridCol w="2186155">
                  <a:extLst>
                    <a:ext uri="{9D8B030D-6E8A-4147-A177-3AD203B41FA5}">
                      <a16:colId xmlns:a16="http://schemas.microsoft.com/office/drawing/2014/main" val="130906420"/>
                    </a:ext>
                  </a:extLst>
                </a:gridCol>
                <a:gridCol w="2350869">
                  <a:extLst>
                    <a:ext uri="{9D8B030D-6E8A-4147-A177-3AD203B41FA5}">
                      <a16:colId xmlns:a16="http://schemas.microsoft.com/office/drawing/2014/main" val="2952335153"/>
                    </a:ext>
                  </a:extLst>
                </a:gridCol>
              </a:tblGrid>
              <a:tr h="318916"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BRONZE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SILVER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PLATINUM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86058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Consolidate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63730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Auditable Source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Clean Mirror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Integration Hub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The Presentation Mart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109727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Ingestion &amp; Audit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Ingestion &amp; Archiving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Transformation &amp; Quality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Define, Build, Optimize &amp; Deliver Models, Visuals &amp; Prompt Response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86066"/>
                  </a:ext>
                </a:extLst>
              </a:tr>
              <a:tr h="5334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Scientists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Deep Forensic Investigation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Exploratory Data Analysis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Exploration &amp; Feature Engineering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Training &amp; Business  Consumption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30512"/>
                  </a:ext>
                </a:extLst>
              </a:tr>
              <a:tr h="49494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 Data Discovery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Building Training Datasets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Enable AI, PBI, ML use cases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09504"/>
                  </a:ext>
                </a:extLst>
              </a:tr>
              <a:tr h="49967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 Engineers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Not usable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</a:rPr>
                        <a:t>Build dashboards &amp; visuals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633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Business Analysis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Diagnostic analysis, why something happened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Proactive, predictive, automated decision making &amp; forecasting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38296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2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Reference Architecture  —  SQL Server → Databricks Unity Catalog Migration Studio  |  v2.0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502920"/>
            <a:ext cx="12191695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0D47A1"/>
                </a:solidFill>
              </a:rPr>
              <a:t>14 UI Pages  •  85+ API Endpoints  •  Metadata-Driven Medallion  •  CDC/DLT  •  Self-Healing  •  Auto Infrastructure  •  Data Quality  •  Reconciliation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8229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Azure SQL / SQL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124712"/>
            <a:ext cx="1371600" cy="6400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4 Source Types: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Azure SQL Database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SQL Server (on-prem)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SQL Managed Instance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Synapse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371600" cy="20116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SPs  •  Views  •  UDFs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2057400"/>
            <a:ext cx="1371600" cy="320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AI SP Converter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SQL → PySpark notebooks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1325880"/>
            <a:ext cx="11887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1655064" y="127101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83080" y="822960"/>
            <a:ext cx="182880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Migration Studio (Flask)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1124712"/>
            <a:ext cx="1828800" cy="1252728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AI Workflow Manager (14 pages)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Pipeline Studio + Job Manager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MetadataFlow orchestration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Auto-init from deployconfig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Notebook gen &amp; deploy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Databricks job submit + poll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CDC / DLT mode 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Self-Healing Bot (auto-fix)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Progress Tracker (7 steps)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Reports &amp; Email alerts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325880"/>
            <a:ext cx="210311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849623" y="127101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0058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777240"/>
            <a:ext cx="8046720" cy="251460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79" y="804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E21"/>
                </a:solidFill>
              </a:rPr>
              <a:t>Databricks Unity Catalog  —  Multi-Catalog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7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7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7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Parquet staging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79007" y="1554480"/>
            <a:ext cx="54864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5815583" y="1499616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43599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599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599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+ audit cols + DQ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39" y="1554480"/>
            <a:ext cx="54864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671815" y="149961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99831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9831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9831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7-check DQ scoring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91471" y="1554480"/>
            <a:ext cx="54864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528047" y="1499616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56063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6063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6063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87367" y="1920240"/>
            <a:ext cx="7827264" cy="20116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Metadata Delta Tables  •  Reconciliation  •  Logging  •  DQ Metrics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87367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4691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2016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9340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6665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3989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Reconciliation.*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51314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550" b="0">
                <a:solidFill>
                  <a:srgbClr val="333333"/>
                </a:solidFill>
              </a:rPr>
              <a:t>ExecutionLog.*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87367" y="2423160"/>
            <a:ext cx="7827264" cy="20116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Auto-Generated Notebooks  (Standard PySpark  +  DLT Mode  +  CDC)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7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00_Orchestrator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87367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Chains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or Spark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0" y="288036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5279135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407151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01_Extract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7151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JDBC + Watermark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Parquet → Volumes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0" y="288036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598919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726935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02_Bronze/DLT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26935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+ DQ checks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0" y="288036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7918703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046719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03_Silver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19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7-check DQ score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0" y="288036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9238487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366503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04_Reconciliation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66503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per col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0" y="288036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10558271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686287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1">
                <a:solidFill>
                  <a:srgbClr val="333333"/>
                </a:solidFill>
              </a:rPr>
              <a:t>05_ExecutionLog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86287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results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7160" y="3520440"/>
            <a:ext cx="17830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7160" y="3776472"/>
            <a:ext cx="1783080" cy="713232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AutoInfraCreation (Azure SDK)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1. ADLS Gen2 + HNS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2. Access Connector (MI)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3. RBAC role assignment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4. UC Storage Credential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5. External Locations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6. Catalogs + MANAGED LOC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7. UC Volumes (landing)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7160" y="4572000"/>
            <a:ext cx="850392" cy="20116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7160" y="4791456"/>
            <a:ext cx="850392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Error classification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Auto-retry + backoff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Cluster restart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1" y="4572000"/>
            <a:ext cx="886968" cy="20116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CDC / DLT Engine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3271" y="4791456"/>
            <a:ext cx="886968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Change Tracking CDC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DLT Auto Loader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Watermark-based incr.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Primary key config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48840" y="3520440"/>
            <a:ext cx="4389120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Migration Studio UI  —  14 Feature-Rich Pages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48840" y="379476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📊 Dashboard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48840" y="401421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🔄 MetadataFlow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148840" y="4233672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⚡ Pipeline Studio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48840" y="4453128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📋 Job Manager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48840" y="4672584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📈 Reports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48840" y="489204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📍 Progress Tracker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148840" y="511149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🔐 Audit &amp; Compliance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43400" y="379476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✨ Data Quality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43400" y="401421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🔀 Schema Comparison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43400" y="4233672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📐 Reconciliation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43400" y="4453128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⚙️ Settings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343400" y="4672584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🔧 Convert to PySpark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43400" y="489204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🚀 Deploy Notebooks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511149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📦 Data Migration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766560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766560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PAT token auth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Encrypted JDBC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UC RBAC per 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MANAGED LOCATION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56448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56448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Reconciliation 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Execution logging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546336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46336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Self-healing bot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Per-stage rerun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DQ scoring (12+)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936224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36224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Metadata-driven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+ PySpark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Multi-catalog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CDC watermarks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66560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85+  API Endpoints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90104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14  UI Pages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613648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12  Python Modules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537192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6  Notebooks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60736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10+  Healing Actions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384280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12+  DQ Checks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7160" y="5212080"/>
            <a:ext cx="365760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7160" y="543153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Azure SQL / SQL Server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645920" y="543153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4 source types (Azure SQL, SQL Server, MI, Synapse)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7160" y="561441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Python 3.11 / Flask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645920" y="561441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Web UI + REST API (85+ endpoints)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37160" y="579729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45920" y="579729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Job submit, poll, notebook deploy, cluster ops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37160" y="598017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UC Volumes + Delta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45920" y="598017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Landing (Parquet) → Bronze/Silver (Delta)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7160" y="616305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Delta Live Tables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645920" y="616305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DLT Auto Loader + expectations + CDC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7160" y="634593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deployconfig.json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645920" y="634593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333333"/>
                </a:solidFill>
              </a:rPr>
              <a:t>Centralised config — auto-loads on startup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023360" y="5212080"/>
            <a:ext cx="5029200" cy="20116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148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116" name="Connector 115"/>
          <p:cNvCxnSpPr/>
          <p:nvPr/>
        </p:nvCxnSpPr>
        <p:spPr>
          <a:xfrm flipH="1">
            <a:off x="4690872" y="5678424"/>
            <a:ext cx="4572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4672584" y="5623560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48006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119" name="Connector 118"/>
          <p:cNvCxnSpPr/>
          <p:nvPr/>
        </p:nvCxnSpPr>
        <p:spPr>
          <a:xfrm flipH="1">
            <a:off x="5376672" y="5678424"/>
            <a:ext cx="4572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5358384" y="562356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54864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Volumes
Landing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062472" y="5678424"/>
            <a:ext cx="45720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/>
          <p:cNvSpPr/>
          <p:nvPr/>
        </p:nvSpPr>
        <p:spPr>
          <a:xfrm rot="5400000">
            <a:off x="6044184" y="5623560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61722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125" name="Connector 124"/>
          <p:cNvCxnSpPr/>
          <p:nvPr/>
        </p:nvCxnSpPr>
        <p:spPr>
          <a:xfrm flipH="1">
            <a:off x="6748272" y="5678424"/>
            <a:ext cx="45720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400000">
            <a:off x="6729984" y="5623560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68580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DQ +
Recon</a:t>
            </a:r>
          </a:p>
        </p:txBody>
      </p:sp>
      <p:cxnSp>
        <p:nvCxnSpPr>
          <p:cNvPr id="128" name="Connector 127"/>
          <p:cNvCxnSpPr/>
          <p:nvPr/>
        </p:nvCxnSpPr>
        <p:spPr>
          <a:xfrm flipH="1">
            <a:off x="7434072" y="5678424"/>
            <a:ext cx="4572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sosceles Triangle 128"/>
          <p:cNvSpPr/>
          <p:nvPr/>
        </p:nvSpPr>
        <p:spPr>
          <a:xfrm rot="5400000">
            <a:off x="7415784" y="5623560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75438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131" name="Connector 130"/>
          <p:cNvCxnSpPr/>
          <p:nvPr/>
        </p:nvCxnSpPr>
        <p:spPr>
          <a:xfrm flipH="1">
            <a:off x="8119872" y="5678424"/>
            <a:ext cx="45720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/>
          <p:cNvSpPr/>
          <p:nvPr/>
        </p:nvSpPr>
        <p:spPr>
          <a:xfrm rot="5400000">
            <a:off x="8101584" y="5623560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82296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Exec
Log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114800" y="594360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Standard Mode: Extract → Bronze → Silver (3 stages)  |  DLT Mode: Extract → DLT Bronze+Silver (2 stages)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CDC: Change Tracking + Watermark-based incremental  |  Rerun: Per-job rerun from first failure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81160" y="5212080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Key Integration Points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281160" y="5431536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deployconfig.json — all creds + catalog map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281160" y="5605272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Auto-init on page load (MetadataFlow)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281160" y="5779008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Settings page: Source DB + Metadata loc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281160" y="5952744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Schema Comparison: drift detection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281160" y="6126480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Data Quality: 12+ checks + __dq_metrics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281160" y="6300216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Reconciliation: SUM validation per col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→ Databricks Migration Studio v2.0  |  Metadata-Driven Medallion  |  CDC + DLT  |  Self-Healing  |  14 UI Pages  |  85+ Endpoints  |  deployconfig.json</a:t>
            </a:r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21919"/>
            <a:ext cx="2148840" cy="789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BE0B-A2DE-DB6E-163F-78A94113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634430"/>
            <a:ext cx="11338560" cy="72673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E128-62F7-7C32-8D1E-BD152AF734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FFF7B-2905-7DE4-BDCA-99912A4B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781"/>
            <a:ext cx="12192000" cy="63762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026" y="-141739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0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206"/>
            <a:ext cx="12191695" cy="5697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8740A3-8F57-9E8A-D05F-D78CACDC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7754"/>
            <a:ext cx="12192000" cy="6140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9A9A6-D97B-6EAD-65B6-37EC46534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1948"/>
            <a:ext cx="12192000" cy="638605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871" y="-135686"/>
            <a:ext cx="2322551" cy="8534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928"/>
            <a:ext cx="12191695" cy="6209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99D39-B8C2-9663-E65A-42E5A6EC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928"/>
            <a:ext cx="12192000" cy="62090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374" y="-110751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438"/>
            <a:ext cx="12191695" cy="62975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860837-073C-88D8-B9AE-3B93AE23D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438"/>
            <a:ext cx="12192000" cy="629756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5" y="-91087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40416D-C628-0C7E-E0C1-88DD1C30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806B1-1747-69AA-5A99-F7EB5B16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439"/>
            <a:ext cx="12192000" cy="629756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0858" y="-110752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59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9096"/>
            <a:ext cx="12191695" cy="621890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865" y="-81255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3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012DEF-AA97-CE8D-E7C6-5FE7757EE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9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116759-7005-19E0-D7CF-7F2CE861A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103"/>
            <a:ext cx="12192000" cy="62778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2032" y="-96356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3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79452-239C-4F60-7328-F1271965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439"/>
            <a:ext cx="12192000" cy="629756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374" y="-78658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00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1E806-12B3-7F52-DBAB-67F2A59C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942"/>
            <a:ext cx="12192000" cy="63270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23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5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9A612-376A-A126-DC0B-C913A1D8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7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77"/>
            <a:ext cx="6095847" cy="634672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511277"/>
            <a:ext cx="6095847" cy="63467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0920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74"/>
            <a:ext cx="12191695" cy="631722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36" y="-120584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928"/>
            <a:ext cx="12191695" cy="62090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0584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76"/>
            <a:ext cx="12191695" cy="634672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368" y="-150081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780"/>
            <a:ext cx="12191695" cy="63762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207" y="-150081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922"/>
            <a:ext cx="12191695" cy="615007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8994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928"/>
            <a:ext cx="12191695" cy="62090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697" y="-71422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934"/>
            <a:ext cx="12191695" cy="626806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542" y="-81255"/>
            <a:ext cx="2322551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78"/>
            <a:ext cx="12191695" cy="634672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871" y="0"/>
            <a:ext cx="2322551" cy="6587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862</Words>
  <Application>Microsoft Office PowerPoint</Application>
  <PresentationFormat>Widescreen</PresentationFormat>
  <Paragraphs>206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DBx Migration Suite </vt:lpstr>
      <vt:lpstr>Medallion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Kumar</cp:lastModifiedBy>
  <cp:revision>34</cp:revision>
  <dcterms:created xsi:type="dcterms:W3CDTF">2013-01-27T09:14:16Z</dcterms:created>
  <dcterms:modified xsi:type="dcterms:W3CDTF">2026-03-27T07:37:20Z</dcterms:modified>
  <cp:category/>
</cp:coreProperties>
</file>