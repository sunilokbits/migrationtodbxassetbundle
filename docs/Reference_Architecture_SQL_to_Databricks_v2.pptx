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Reference Architecture v2  —  SQL Server to Databricks Migration Studio  |  17-Page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731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BDEFB"/>
                </a:solidFill>
              </a:rPr>
              <a:t>v2.0  |  March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64008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Source Databases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941832"/>
            <a:ext cx="1371600" cy="73152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SQL Server (on-prem)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Azure SQL (PaaS)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Synapse Analytics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SQL Managed Instance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─────────────────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Tables + SPs + Views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UDFs + CDC tracking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1188720"/>
            <a:ext cx="11887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1655064" y="113385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83080" y="640080"/>
            <a:ext cx="2468880" cy="2743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Migration Studio  (Flask + 50+ APIs)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960120"/>
            <a:ext cx="1165860" cy="18288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AI Workflow
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1161287"/>
            <a:ext cx="1165860" cy="512064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Pipeline Studio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Job Manager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MetadataFlow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Auto-init config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Background polling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6100" y="960120"/>
            <a:ext cx="1165860" cy="1828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Core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86100" y="1161287"/>
            <a:ext cx="1165860" cy="512064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SP→PySpark (AI)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Deploy Notebooks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Data Migration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Unity Catalog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Schema Compare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0" y="1188720"/>
            <a:ext cx="118872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4398264" y="113385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822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594360"/>
            <a:ext cx="7498079" cy="3017520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621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E21"/>
                </a:solidFill>
              </a:rPr>
              <a:t>Databricks Unity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896112"/>
            <a:ext cx="1600200" cy="228600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UC Volumes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143000"/>
            <a:ext cx="1600200" cy="164592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Landing Zone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325880"/>
            <a:ext cx="1600200" cy="36576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Parquet staging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Batch ID partitions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Watermark tracking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0" y="1399032"/>
            <a:ext cx="27432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6227064" y="1344168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896112"/>
            <a:ext cx="1600200" cy="22860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143000"/>
            <a:ext cx="1600200" cy="164592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Raw +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325880"/>
            <a:ext cx="1600200" cy="365760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5 DQ checks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Audit columns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55280" y="1399032"/>
            <a:ext cx="27432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7964424" y="1344168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92440" y="896112"/>
            <a:ext cx="1600200" cy="22860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143000"/>
            <a:ext cx="1600200" cy="164592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Cleansed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1325880"/>
            <a:ext cx="1600200" cy="36576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7 DQ checks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Dedup + type cast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92640" y="1399032"/>
            <a:ext cx="27432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9701784" y="1344168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29800" y="896112"/>
            <a:ext cx="1600200" cy="228600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333333"/>
                </a:solidFill>
              </a:rPr>
              <a:t>Gold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1143000"/>
            <a:ext cx="1600200" cy="164592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Business KPIs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1325880"/>
            <a:ext cx="1600200" cy="36576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Aggregated views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BI-ready datasets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1737360"/>
            <a:ext cx="7315199" cy="20116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Metadata Delta Tables  +  Reconciliation &amp; Logging Catalogs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1965960"/>
            <a:ext cx="982326" cy="228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3198" y="1965960"/>
            <a:ext cx="982326" cy="228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8677" y="1965960"/>
            <a:ext cx="982326" cy="228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84156" y="1965960"/>
            <a:ext cx="982326" cy="228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39634" y="1965960"/>
            <a:ext cx="982326" cy="228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95113" y="1965960"/>
            <a:ext cx="982326" cy="2286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reconciliation.*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50592" y="1965960"/>
            <a:ext cx="982326" cy="2286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loggingdetails.*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7720" y="2240280"/>
            <a:ext cx="7315199" cy="201168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Auto-Generated Notebooks  (PySpark + DLT Mode)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17720" y="2468880"/>
            <a:ext cx="1142999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00_Orchestrator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7720" y="2670048"/>
            <a:ext cx="1142999" cy="32004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Chain all stages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or Spark mode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5742431.833333333" y="269748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5724143" y="264261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52159" y="2468880"/>
            <a:ext cx="1142999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01_Extract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59" y="2670048"/>
            <a:ext cx="1142999" cy="32004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JDBC to Azure SQL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Watermark filtering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6976871.666666666" y="269748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6958583" y="264261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86599" y="2468880"/>
            <a:ext cx="1142999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02_Bronze/DLT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86599" y="2670048"/>
            <a:ext cx="1142999" cy="32004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Landing →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+ DQ checks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8211311.499999999" y="269748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8193023" y="264261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321039" y="2468880"/>
            <a:ext cx="1142999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03_Silver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21039" y="2670048"/>
            <a:ext cx="1142999" cy="32004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Bronze → Silver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Dedup + cleanse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9445751.333333334" y="269748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9427463" y="264261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555479" y="2468880"/>
            <a:ext cx="1142999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04_Reconciliation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55479" y="2670048"/>
            <a:ext cx="1142999" cy="32004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Source vs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SUM validation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0680191.166666666" y="269748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5400000">
            <a:off x="10661903" y="264261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789919" y="2468880"/>
            <a:ext cx="1142999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05_ExecutionLog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789919" y="2670048"/>
            <a:ext cx="1142999" cy="32004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trail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Per-job results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17720" y="3035808"/>
            <a:ext cx="3589019" cy="301752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CDC Modes: change_tracking | watermark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43899" y="3035808"/>
            <a:ext cx="3589019" cy="30175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Pipeline Modes: Standard PySpark (3-stage) | DLT (2-stage)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7160" y="3794760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Deploy Infrastructure (Azure SDK)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7160" y="406908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1. ADLS Gen2 Storage + Containers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2. Access Connector (Managed ID)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3. RBAC: Storage Blob Data Contributor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4. UC Storage Credentials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5. External Locations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6. Catalogs + MANAGED LOCATION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7160" y="4846320"/>
            <a:ext cx="914400" cy="20116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Self-Healing Bot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7160" y="5074920"/>
            <a:ext cx="914400" cy="4572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20+ error patterns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10 healing actions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Auto-retry + backoff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Restore points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97280" y="4846320"/>
            <a:ext cx="960120" cy="201168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AI SP Converter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97280" y="5074920"/>
            <a:ext cx="960120" cy="4572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OpenAI / Gemini / Claude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SP+Views+UDFs →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PySpark notebooks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Bulk conversion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286000" y="3794760"/>
            <a:ext cx="2057400" cy="22860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286000" y="4041648"/>
            <a:ext cx="2057400" cy="59436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PAT token API auth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Encrypted JDBC (TLS)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UC RBAC per catalog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MANAGED LOCATION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53128" y="3794760"/>
            <a:ext cx="2057400" cy="228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53128" y="4041648"/>
            <a:ext cx="2057400" cy="5943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Reconciliation catalog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Execution logging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Audit &amp; Compliance page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20256" y="3794760"/>
            <a:ext cx="2057400" cy="2286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20256" y="4041648"/>
            <a:ext cx="2057400" cy="59436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Self-healing bot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Per-stage rerun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12 DQ checks + scoring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Watermark CDC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87384" y="3794760"/>
            <a:ext cx="2057400" cy="228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87384" y="4041648"/>
            <a:ext cx="2057400" cy="59436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Metadata-driven 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DLT + Standard PySpark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8-thread parallel migrate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Multi-catalog arch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37160" y="4709160"/>
            <a:ext cx="379476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17-Page Web Application  (Flask + JavaScript)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37160" y="4965192"/>
            <a:ext cx="73152" cy="1554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19456" y="4965192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Dashboard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591056" y="4965192"/>
            <a:ext cx="36576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KPI metrics + health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37160" y="5120640"/>
            <a:ext cx="73152" cy="15544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19456" y="5120640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MetadataFlow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591056" y="5120640"/>
            <a:ext cx="36576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Init 5 Delta tables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7160" y="5276088"/>
            <a:ext cx="73152" cy="155448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19456" y="5276088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Pipeline Studio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591056" y="5276088"/>
            <a:ext cx="36576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Create medallion pipelines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37160" y="5431536"/>
            <a:ext cx="73152" cy="155448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19456" y="5431536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Job Manager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91056" y="5431536"/>
            <a:ext cx="36576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Run + auto-poll status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37160" y="5586984"/>
            <a:ext cx="73152" cy="155448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19456" y="5586984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Reports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591056" y="5586984"/>
            <a:ext cx="36576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Execution reports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7160" y="5742432"/>
            <a:ext cx="73152" cy="155448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19456" y="5742432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Progress Tracker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591056" y="5742432"/>
            <a:ext cx="36576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Visual stage flowchart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7160" y="5897880"/>
            <a:ext cx="73152" cy="155448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19456" y="5897880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Audit &amp; Compliance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91056" y="5897880"/>
            <a:ext cx="36576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Lineage + compliance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37160" y="6053328"/>
            <a:ext cx="73152" cy="15544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219456" y="6053328"/>
            <a:ext cx="13716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Data Quality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591056" y="6053328"/>
            <a:ext cx="36576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DQ scores + validation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993392" y="4965192"/>
            <a:ext cx="73152" cy="1554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2075688" y="4965192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Schema Comparison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493008" y="4965192"/>
            <a:ext cx="4572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Source vs Target diff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993392" y="5120640"/>
            <a:ext cx="73152" cy="155448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2075688" y="5120640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Reconciliation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493008" y="5120640"/>
            <a:ext cx="4572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Row + column validation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993392" y="5276088"/>
            <a:ext cx="73152" cy="155448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075688" y="5276088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Settings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493008" y="5276088"/>
            <a:ext cx="4572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Config + auto-init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993392" y="5431536"/>
            <a:ext cx="73152" cy="155448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2075688" y="5431536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Convert to PySpark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493008" y="5431536"/>
            <a:ext cx="4572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SP/View/UDF → PySpark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993392" y="5586984"/>
            <a:ext cx="73152" cy="155448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2075688" y="5586984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Deploy Notebooks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493008" y="5586984"/>
            <a:ext cx="4572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Batch upload to DBR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993392" y="5742432"/>
            <a:ext cx="73152" cy="155448"/>
          </a:xfrm>
          <a:prstGeom prst="roundRect">
            <a:avLst>
              <a:gd name="adj" fmla="val 8000"/>
            </a:avLst>
          </a:prstGeom>
          <a:solidFill>
            <a:srgbClr val="FF3E21"/>
          </a:solidFill>
          <a:ln w="127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2075688" y="5742432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Unity Catalog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493008" y="5742432"/>
            <a:ext cx="4572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Browse + SQL executor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993392" y="5897880"/>
            <a:ext cx="73152" cy="155448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075688" y="5897880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Data Migration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493008" y="5897880"/>
            <a:ext cx="4572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8-thread bulk migrate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993392" y="6053328"/>
            <a:ext cx="73152" cy="155448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2075688" y="6053328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Medallion Arch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493008" y="6053328"/>
            <a:ext cx="457200" cy="15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Generate 4 notebooks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93392" y="6208776"/>
            <a:ext cx="73152" cy="15544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2075688" y="6208776"/>
            <a:ext cx="141732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Self-Healing Bot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493008" y="6208776"/>
            <a:ext cx="457200" cy="15544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Auto-diagnosis + heal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160520" y="4709160"/>
            <a:ext cx="7863840" cy="228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End-to-End Data Flow  (Auto-Config from deployconfig.json)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251960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Config
Settings</a:t>
            </a:r>
          </a:p>
        </p:txBody>
      </p:sp>
      <p:cxnSp>
        <p:nvCxnSpPr>
          <p:cNvPr id="137" name="Connector 136"/>
          <p:cNvCxnSpPr/>
          <p:nvPr/>
        </p:nvCxnSpPr>
        <p:spPr>
          <a:xfrm flipH="1">
            <a:off x="4983480" y="5184648"/>
            <a:ext cx="18288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Isosceles Triangle 137"/>
          <p:cNvSpPr/>
          <p:nvPr/>
        </p:nvSpPr>
        <p:spPr>
          <a:xfrm rot="5400000">
            <a:off x="4965192" y="5129784"/>
            <a:ext cx="128016" cy="109728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5093208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140" name="Connector 139"/>
          <p:cNvCxnSpPr/>
          <p:nvPr/>
        </p:nvCxnSpPr>
        <p:spPr>
          <a:xfrm flipH="1">
            <a:off x="5824728" y="5184648"/>
            <a:ext cx="18288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Isosceles Triangle 140"/>
          <p:cNvSpPr/>
          <p:nvPr/>
        </p:nvSpPr>
        <p:spPr>
          <a:xfrm rot="5400000">
            <a:off x="5806440" y="5129784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5934456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143" name="Connector 142"/>
          <p:cNvCxnSpPr/>
          <p:nvPr/>
        </p:nvCxnSpPr>
        <p:spPr>
          <a:xfrm flipH="1">
            <a:off x="6665976" y="5184648"/>
            <a:ext cx="18288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Isosceles Triangle 143"/>
          <p:cNvSpPr/>
          <p:nvPr/>
        </p:nvSpPr>
        <p:spPr>
          <a:xfrm rot="5400000">
            <a:off x="6647688" y="5129784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6775704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UC Volumes
Landing</a:t>
            </a:r>
          </a:p>
        </p:txBody>
      </p:sp>
      <p:cxnSp>
        <p:nvCxnSpPr>
          <p:cNvPr id="146" name="Connector 145"/>
          <p:cNvCxnSpPr/>
          <p:nvPr/>
        </p:nvCxnSpPr>
        <p:spPr>
          <a:xfrm flipH="1">
            <a:off x="7507224" y="5184648"/>
            <a:ext cx="18288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sosceles Triangle 146"/>
          <p:cNvSpPr/>
          <p:nvPr/>
        </p:nvSpPr>
        <p:spPr>
          <a:xfrm rot="5400000">
            <a:off x="7488936" y="5129784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616952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149" name="Connector 148"/>
          <p:cNvCxnSpPr/>
          <p:nvPr/>
        </p:nvCxnSpPr>
        <p:spPr>
          <a:xfrm flipH="1">
            <a:off x="8348472" y="5184648"/>
            <a:ext cx="18288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Isosceles Triangle 149"/>
          <p:cNvSpPr/>
          <p:nvPr/>
        </p:nvSpPr>
        <p:spPr>
          <a:xfrm rot="5400000">
            <a:off x="8330184" y="5129784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8458200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Recon
Validate</a:t>
            </a:r>
          </a:p>
        </p:txBody>
      </p:sp>
      <p:cxnSp>
        <p:nvCxnSpPr>
          <p:cNvPr id="152" name="Connector 151"/>
          <p:cNvCxnSpPr/>
          <p:nvPr/>
        </p:nvCxnSpPr>
        <p:spPr>
          <a:xfrm flipH="1">
            <a:off x="9189720" y="5184648"/>
            <a:ext cx="18288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sosceles Triangle 152"/>
          <p:cNvSpPr/>
          <p:nvPr/>
        </p:nvSpPr>
        <p:spPr>
          <a:xfrm rot="5400000">
            <a:off x="9171432" y="5129784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9299448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155" name="Connector 154"/>
          <p:cNvCxnSpPr/>
          <p:nvPr/>
        </p:nvCxnSpPr>
        <p:spPr>
          <a:xfrm flipH="1">
            <a:off x="10030968" y="5184648"/>
            <a:ext cx="18288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Isosceles Triangle 155"/>
          <p:cNvSpPr/>
          <p:nvPr/>
        </p:nvSpPr>
        <p:spPr>
          <a:xfrm rot="5400000">
            <a:off x="10012680" y="5129784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140696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Exec
Log</a:t>
            </a:r>
          </a:p>
        </p:txBody>
      </p:sp>
      <p:cxnSp>
        <p:nvCxnSpPr>
          <p:cNvPr id="158" name="Connector 157"/>
          <p:cNvCxnSpPr/>
          <p:nvPr/>
        </p:nvCxnSpPr>
        <p:spPr>
          <a:xfrm flipH="1">
            <a:off x="10872216" y="5184648"/>
            <a:ext cx="18288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sosceles Triangle 158"/>
          <p:cNvSpPr/>
          <p:nvPr/>
        </p:nvSpPr>
        <p:spPr>
          <a:xfrm rot="5400000">
            <a:off x="10853928" y="5129784"/>
            <a:ext cx="128016" cy="109728"/>
          </a:xfrm>
          <a:prstGeom prst="triangl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0981944" y="4983480"/>
            <a:ext cx="749808" cy="411480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Gold
(Future)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160520" y="5486400"/>
            <a:ext cx="7863840" cy="201168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Technology Stack + Key Capabilities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160520" y="5715000"/>
            <a:ext cx="1883664" cy="18288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160520" y="5916168"/>
            <a:ext cx="1883664" cy="5486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Python 3.11 / Flask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50+ REST API endpoints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deployconfig.json auto-init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Settings-based config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153912" y="5715000"/>
            <a:ext cx="1883664" cy="182880"/>
          </a:xfrm>
          <a:prstGeom prst="roundRect">
            <a:avLst>
              <a:gd name="adj" fmla="val 8000"/>
            </a:avLst>
          </a:prstGeom>
          <a:solidFill>
            <a:srgbClr val="FF3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Databricks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153912" y="5916168"/>
            <a:ext cx="1883664" cy="54864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Unity Catalog + Delta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SQL Warehouse + Clusters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+ Standard PySpark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Auto-generated notebooks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147304" y="5715000"/>
            <a:ext cx="1883664" cy="1828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Migration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147304" y="5916168"/>
            <a:ext cx="1883664" cy="5486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8-thread parallel migrate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PyArrow + Parquet staging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CDC (change_tracking)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Watermark incremental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140696" y="5715000"/>
            <a:ext cx="1883664" cy="1828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140696" y="5916168"/>
            <a:ext cx="1883664" cy="54864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12 DQ checks (Bronze+Silver)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DQ Score + metrics table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Schema comparison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Reconciliation validation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82880" y="6601968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Migration Studio v2  |  17 Pages  |  50+ APIs  |  Metadata-Driven Medallion  |  CDC + DLT  |  Self-Healing  |  Auto-Config  |  12 DQ Checks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What's New in v2  —  All Features Added Since Initial Release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640080"/>
            <a:ext cx="3886200" cy="27432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Platform &amp;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96012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Settings Page — Centralized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234440"/>
            <a:ext cx="3886200" cy="5029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Source Database Connection section (server/db/user/pass)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 Tables Location (catalog + schema)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Auto-init from deployconfig.json on page load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Test Connection button validates credentials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Save triggers silent MetadataFlow initialization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78308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Auto-Init Architecture (Zero-Touch Setup)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2057400"/>
            <a:ext cx="3886200" cy="50292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Backend _restore_from_deploy_config() on module load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Auto-detect running SQL warehouse (no manual ID)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Frontend _autoInitFromConfig() populates all pages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/api/workflow/auto-init silently initializes metadata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 need to visit MetadataFlow page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260604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Deploy Infrastructure (AutoInfraCreation)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880360"/>
            <a:ext cx="3886200" cy="59436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Fully automated Azure + UC setup via Python SDK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ADLS Gen2 Storage (HNS enabled) + Containers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Access Connector with Managed Identity + RBAC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UC Storage Credentials + External Locations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Catalogs with MANAGED LOCATION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UC Volumes for landing zone (Parquet staging)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352044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Self-Healing Bot — Intelligent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" y="3794760"/>
            <a:ext cx="3886200" cy="4114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20+ error patterns → 12 categories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10 healing actions (retry, restart, rollback, scale)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Exponential backoff: 5s → 10s → 20s → 40s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Restore points + full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425196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deployconfig.json — Single Source of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4526280"/>
            <a:ext cx="3886200" cy="3200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All credentials + catalogs + storage paths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Source DB, Databricks, metadata location saved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Auto-loaded on app start + page 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640080"/>
            <a:ext cx="3886200" cy="2743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Pipeline &amp; Workflow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96012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Pipeline Studio — Redesigned Table Picker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234440"/>
            <a:ext cx="3886200" cy="50292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Two-column layout: Available Tables | Selected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Blue checkboxes with animated SVG checkmarks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Search + Select All / Clear All + per-table load type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Numbered badges on selected items (1, 2, 3...)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Compact cluster bar (selector + Refresh + Start)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78308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Job Manager — Auto-Status &amp; Smart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057400"/>
            <a:ext cx="3886200" cy="50292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Auto-detect deployment from /api/workflow/notebooks/status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Auto-load credentials from deployconfig.json fallback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Auto-detect running clusters for job execution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Background poller updates JOB_REGISTRY (10s refresh)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Per-job rerun from first failed stage forward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60604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FF3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CDC &amp; DLT Pipeline Modes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880360"/>
            <a:ext cx="3886200" cy="4114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CDC modes: change_tracking | watermark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mode: 2-stage pipeline (Extract → DLT Bronze+Silver)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Standard mode: 3-stage (Extract → Bronze → 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Per-stage progress bars with status icons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33756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Data Migration Engine — High Performance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11880"/>
            <a:ext cx="3886200" cy="4114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8-thread parallel migration (ThreadPoolExecutor)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PyArrow + Parquet + Snappy compression staging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COPY INTO for bulk Delta insert (fastest path)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30+ SQL Server → Delta type mappings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4069080"/>
            <a:ext cx="3886200" cy="256032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AI SP Converter — Multi-Model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343400"/>
            <a:ext cx="3886200" cy="320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OpenAI / Gemini / Claude for conversion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Bulk convert: SP + Views + UDFs → PySpark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Redesigned: card UI, filter pills, larger checkboxes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640080"/>
            <a:ext cx="3840480" cy="2743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Quality, Monitoring &amp;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96012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Data Quality Framework — 12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234440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Bronze: 5 checks (empty, null-key, dup, schema drift, quarantine)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Silver: 7 checks (filter, null, high-null, dedup, trim, empty→NULL)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DQ Score: % checks passed → __dq_metrics Delta table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Per-row __dq_status + __is_quarantined flags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DQ page: expectations + validation scores in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78308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Reconciliation &amp; Execution Logging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057400"/>
            <a:ext cx="3840480" cy="41148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04_Meta_Reconciliation: Source vs Bronze SUM per numeric col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PASS / WARN / FAIL per column → dedicated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05_Meta_ExecutionLog: Per-job audit trail → logging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Reconciliation Report page in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51460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Schema Comparison &amp; Audit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2788920"/>
            <a:ext cx="3840480" cy="4114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Source vs Target side-by-side column comparison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Type drift + missing column detection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Audit &amp; Compliance page: full lineage tracking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Progress Tracker: visual stage flowchart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24612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v1 vs v2 Comparison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538728"/>
            <a:ext cx="1051560" cy="164592"/>
          </a:xfrm>
          <a:prstGeom prst="roundRect">
            <a:avLst>
              <a:gd name="adj" fmla="val 8000"/>
            </a:avLst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Feature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39" y="3538728"/>
            <a:ext cx="123444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C62828"/>
                </a:solidFill>
              </a:rPr>
              <a:t>v1 (Before)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79" y="3538728"/>
            <a:ext cx="155448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2E7D32"/>
                </a:solidFill>
              </a:rPr>
              <a:t>v2 (After)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703320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UI Pages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39" y="3703320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~6 pages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69879" y="3703320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17 pages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3849624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API Endpoints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39" y="3849624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~15 endpoints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69879" y="3849624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50+ endpoints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79" y="3995928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Notebooks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39" y="3995928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4 notebooks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69879" y="3995928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6 notebooks (+Recon, +Log)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83879" y="4142232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Pipeline Modes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39" y="4142232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Standard only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69879" y="4142232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Standard + DLT + CDC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4288536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DQ Checks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39" y="4288536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Basic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69879" y="4288536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12 checks + DQ Score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79" y="4434840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Config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39" y="4434840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Hardcoded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69879" y="4434840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deployconfig.json auto-init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83879" y="4581144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Infra Setup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39" y="4581144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Manual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69879" y="4581144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Automated (Azure SDK)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83879" y="4727448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Error Recovery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35439" y="4727448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Manual rerun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69879" y="4727448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Self-Healing Bot (10 actions)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4873752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Migration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39" y="4873752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Sequential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69879" y="4873752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8-thread parallel + PyArrow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79" y="5020056"/>
            <a:ext cx="10515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Source DB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35439" y="5020056"/>
            <a:ext cx="123444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SQL Server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69879" y="5020056"/>
            <a:ext cx="155448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4 source types supported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01968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Migration Studio v2  |  What's New — Complete feature comparison vs initial architecture 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Application Workflow  —  User Journey Through The Migration Studio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685800"/>
            <a:ext cx="1645920" cy="2743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1: Configure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005840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207007"/>
            <a:ext cx="1645920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Set Databricks host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token, source DB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credentials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1627632"/>
            <a:ext cx="0" cy="18288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10800000">
            <a:off x="905256" y="1609344"/>
            <a:ext cx="109728" cy="128016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" y="2011680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Auto-Init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212847"/>
            <a:ext cx="1645920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deployconfig.json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auto-loads 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page reload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60120" y="2633472"/>
            <a:ext cx="0" cy="18288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905256" y="2615184"/>
            <a:ext cx="109728" cy="128016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" y="3017520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Infra 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3218687"/>
            <a:ext cx="1645920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Azure SDK creates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storage, UC creds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external locations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685800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2: Convert &amp; Migrate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00584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Load SQL Objects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207007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Connect to source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Load SPs + Views + UDFs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02052.0" y="1280160"/>
            <a:ext cx="18288.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2683764" y="1225296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11780" y="100584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AI Convert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1780" y="1207007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OpenAI/Gemini/Claude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SP → PySpark notebooks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502152.0" y="1280160"/>
            <a:ext cx="18288.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3483864" y="1225296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11880" y="100584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1207007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Batch upload notebooks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to Databricks workspace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302252.0" y="1280160"/>
            <a:ext cx="18288.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4283964" y="1225296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11980" y="100584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Bulk Migrate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1980" y="1207007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8-thread parallel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PyArrow → UC Volumes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1691640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3: Pipeline Orchestration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201168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MetadataFlow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221284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Init 5 Delta tables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in Unity Catalog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702052.0" y="2286000"/>
            <a:ext cx="18288.0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2683764" y="223113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811780" y="201168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Pipeline Studio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11780" y="221284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Discover tables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Create medallion jobs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502152.0" y="2286000"/>
            <a:ext cx="18288.0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3483864" y="223113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11880" y="201168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Job Manager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221284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Run on Databricks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Auto-poll status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4302252.0" y="2286000"/>
            <a:ext cx="18288.0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4283964" y="223113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11980" y="201168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11980" y="221284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10s auto-refresh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Status tracking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1680" y="2697480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4: Quality &amp; Governance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11680" y="301752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11680" y="321868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12 DQ checks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Bronze + Silver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2702052.0" y="3291840"/>
            <a:ext cx="18288.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2683764" y="3236976"/>
            <a:ext cx="128016" cy="109728"/>
          </a:xfrm>
          <a:prstGeom prst="triangl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811780" y="301752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Reconciliation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11780" y="321868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Source vs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SUM validation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3502152.0" y="3291840"/>
            <a:ext cx="18288.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3483864" y="3236976"/>
            <a:ext cx="128016" cy="109728"/>
          </a:xfrm>
          <a:prstGeom prst="triangl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611880" y="301752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Schema Compare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11880" y="321868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Column diff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Type drift detect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4302252.0" y="3291840"/>
            <a:ext cx="18288.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4283964" y="3236976"/>
            <a:ext cx="128016" cy="109728"/>
          </a:xfrm>
          <a:prstGeom prst="triangl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11980" y="3017520"/>
            <a:ext cx="708660" cy="1828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11980" y="3218688"/>
            <a:ext cx="708660" cy="3657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Execution logs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Compliance report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49240" y="685800"/>
            <a:ext cx="6675120" cy="274320"/>
          </a:xfrm>
          <a:prstGeom prst="roundRect">
            <a:avLst>
              <a:gd name="adj" fmla="val 8000"/>
            </a:avLst>
          </a:prstGeom>
          <a:solidFill>
            <a:srgbClr val="FF3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Databricks Pipeline Execution  (Metadata-Driven)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49240" y="1005840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00_Orchestrator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49240" y="125272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Reads wf_job_metadata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Chains stages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DLT or Spark mode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915150.0" y="1371600"/>
            <a:ext cx="27432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6924294" y="131673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052310" y="1005840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01_Extract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52310" y="125272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JDBC → Azure SQL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Watermark filtering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Parquet → UC Volumes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618220.0" y="1371600"/>
            <a:ext cx="27432.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8627364" y="131673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755380" y="1005840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02_Bronze/DLT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5380" y="125272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Landing → Bronze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5 DQ checks + audit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DLT Auto Loader opt.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321290.0" y="1371600"/>
            <a:ext cx="27432.0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/>
          <p:cNvSpPr/>
          <p:nvPr/>
        </p:nvSpPr>
        <p:spPr>
          <a:xfrm rot="5400000">
            <a:off x="10330434" y="1316736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458450" y="1005840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03_Silver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458450" y="125272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Bronze → Silver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7 DQ checks + dedup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Type cast + scoring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349240" y="1874519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04_Reconciliation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349240" y="212140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Source vs Bronze agg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SUM per numeric col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PASS / WARN / FAIL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915150.0" y="2286000"/>
            <a:ext cx="27432.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/>
          <p:cNvSpPr/>
          <p:nvPr/>
        </p:nvSpPr>
        <p:spPr>
          <a:xfrm rot="5400000">
            <a:off x="6924294" y="2231136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052310" y="1874519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05_ExecutionLog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52310" y="212140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Full audit trail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Per-job results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→ logging catalog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55380" y="1874519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Self-Healing Bot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5380" y="212140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Error classification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Auto-retry + backoff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Cluster restart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Restore points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458450" y="1874519"/>
            <a:ext cx="1565910" cy="2286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Status Monitor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58450" y="2121408"/>
            <a:ext cx="1565910" cy="50292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10s auto-poll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JOB_REGISTRY update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Progress tracker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Dashboard KPIs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37160" y="5120640"/>
            <a:ext cx="11887200" cy="256032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Platform Statistics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37160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7160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160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UI Pages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466088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66088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50+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66088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REST APIs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795016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95016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95016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Auto-Gen Notebooks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23944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23944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23944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Metadata Tables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52872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52872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52872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DQ Checks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781800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81800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81800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Healing Actions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110728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10728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10728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Parallel Threads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439656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439656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9656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Source DB Types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768584" y="5413248"/>
            <a:ext cx="1255776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768584" y="5431536"/>
            <a:ext cx="1255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47A1"/>
                </a:solidFill>
              </a:rPr>
              <a:t>30+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68584" y="5596128"/>
            <a:ext cx="125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</a:rPr>
              <a:t>Type Mappings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37160" y="5806440"/>
            <a:ext cx="11887200" cy="201168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37160" y="6035040"/>
            <a:ext cx="290322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 Layer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2880" y="6217920"/>
            <a:ext cx="28117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</a:rPr>
              <a:t>Aggregated KPIs for BI dashboards (Power BI / Tableau)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131820" y="6035040"/>
            <a:ext cx="290322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Secret Mgmt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177540" y="6217920"/>
            <a:ext cx="28117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</a:rPr>
              <a:t>Databricks Secrets / Azure Key Vault (replace PAT tokens)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126480" y="6035040"/>
            <a:ext cx="290322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CI/CD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2200" y="6217920"/>
            <a:ext cx="28117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</a:rPr>
              <a:t>Azure DevOps / GitHub Actions for notebook promotion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121140" y="6035040"/>
            <a:ext cx="290322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Streaming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66860" y="6217920"/>
            <a:ext cx="28117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</a:rPr>
              <a:t>CDC-based streaming with Auto Loader / Change Data Feed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82880" y="6601968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SQL → Databricks Migration Studio v2  |  End-to-End Application Workflow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