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4FBB883D-2A4C-9154-1EF6-345BF82858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91867" y="1"/>
            <a:ext cx="5300133" cy="4703988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73312" y="6547105"/>
            <a:ext cx="2804160" cy="16414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1C723F17-201A-79E8-D3AE-1886428CA1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237" y="6370320"/>
            <a:ext cx="1327171" cy="48768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0113C8FD-4E9B-8BDA-4110-C3A9B26C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2691"/>
            <a:ext cx="11338560" cy="86847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933" b="1" spc="-107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BCB9191-8441-7969-6BAA-2EF0BBB8A4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519582"/>
            <a:ext cx="11338560" cy="4703988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1pPr>
            <a:lvl2pPr marL="505834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2pPr>
            <a:lvl3pPr marL="783072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3pPr>
            <a:lvl4pPr marL="1060312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4pPr>
            <a:lvl5pPr marL="1337551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97498B6-84F0-22B7-58EF-D66D9CCFE0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2337" y="322825"/>
            <a:ext cx="4159972" cy="164148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1067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74B6CD8D-FC4F-199B-700C-ECAD82A6E0E7}"/>
              </a:ext>
            </a:extLst>
          </p:cNvPr>
          <p:cNvSpPr txBox="1">
            <a:spLocks/>
          </p:cNvSpPr>
          <p:nvPr userDrawn="1"/>
        </p:nvSpPr>
        <p:spPr>
          <a:xfrm>
            <a:off x="2013936" y="6547103"/>
            <a:ext cx="4876800" cy="164148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8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8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8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8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38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80F169-1F6E-3727-F0C1-FA537B4E2F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808112-CE4E-9347-D00A-7AD5FDF0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95" y="1"/>
            <a:ext cx="11338560" cy="868471"/>
          </a:xfrm>
        </p:spPr>
        <p:txBody>
          <a:bodyPr/>
          <a:lstStyle/>
          <a:p>
            <a:r>
              <a:rPr lang="en-GB" dirty="0">
                <a:solidFill>
                  <a:schemeClr val="accent4"/>
                </a:solidFill>
              </a:rPr>
              <a:t>Medallion Architecture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575CCC0-9DBF-249D-B7CF-715B4C13CFBE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1012457" y="1130409"/>
          <a:ext cx="9993442" cy="3833088"/>
        </p:xfrm>
        <a:graphic>
          <a:graphicData uri="http://schemas.openxmlformats.org/drawingml/2006/table">
            <a:tbl>
              <a:tblPr firstRow="1">
                <a:tableStyleId>{1FECB4D8-DB02-4DC6-A0A2-4F2EBAE1DC90}</a:tableStyleId>
              </a:tblPr>
              <a:tblGrid>
                <a:gridCol w="1449049">
                  <a:extLst>
                    <a:ext uri="{9D8B030D-6E8A-4147-A177-3AD203B41FA5}">
                      <a16:colId xmlns:a16="http://schemas.microsoft.com/office/drawing/2014/main" val="3759845087"/>
                    </a:ext>
                  </a:extLst>
                </a:gridCol>
                <a:gridCol w="1858780">
                  <a:extLst>
                    <a:ext uri="{9D8B030D-6E8A-4147-A177-3AD203B41FA5}">
                      <a16:colId xmlns:a16="http://schemas.microsoft.com/office/drawing/2014/main" val="87406413"/>
                    </a:ext>
                  </a:extLst>
                </a:gridCol>
                <a:gridCol w="2148589">
                  <a:extLst>
                    <a:ext uri="{9D8B030D-6E8A-4147-A177-3AD203B41FA5}">
                      <a16:colId xmlns:a16="http://schemas.microsoft.com/office/drawing/2014/main" val="2751283564"/>
                    </a:ext>
                  </a:extLst>
                </a:gridCol>
                <a:gridCol w="2186155">
                  <a:extLst>
                    <a:ext uri="{9D8B030D-6E8A-4147-A177-3AD203B41FA5}">
                      <a16:colId xmlns:a16="http://schemas.microsoft.com/office/drawing/2014/main" val="130906420"/>
                    </a:ext>
                  </a:extLst>
                </a:gridCol>
                <a:gridCol w="2350869">
                  <a:extLst>
                    <a:ext uri="{9D8B030D-6E8A-4147-A177-3AD203B41FA5}">
                      <a16:colId xmlns:a16="http://schemas.microsoft.com/office/drawing/2014/main" val="2952335153"/>
                    </a:ext>
                  </a:extLst>
                </a:gridCol>
              </a:tblGrid>
              <a:tr h="318916"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BRONZE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SILVER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GOLD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PLATINUM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486058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Cleanse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Consolidate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563730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Auditable Source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Clean Mirror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Integration Hub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The Presentation Mart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109727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Data Engineers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Ingestion &amp; Audit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Ingestion &amp; Archiving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Transformation &amp; Quality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Define, Build, Optimize &amp; Deliver Models, Visuals &amp; Prompt Response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986066"/>
                  </a:ext>
                </a:extLst>
              </a:tr>
              <a:tr h="5334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Data Scientists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Deep Forensic Investigation</a:t>
                      </a:r>
                      <a:endParaRPr lang="en-US" sz="120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Exploratory Data Analysis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Exploration &amp; Feature Engineering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Model Training &amp; Business  Consumption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330512"/>
                  </a:ext>
                </a:extLst>
              </a:tr>
              <a:tr h="49494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Engineers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Not usable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Deep Data Discovery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Building Training Datasets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Enable AI, PBI, ML use cases</a:t>
                      </a: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09504"/>
                  </a:ext>
                </a:extLst>
              </a:tr>
              <a:tr h="49967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Report Engineers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Not usable</a:t>
                      </a:r>
                      <a:endParaRPr lang="en-US" sz="120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usable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</a:rPr>
                        <a:t>Build dashboards &amp; visuals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633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Business Analysis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Not usable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usable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Diagnostic analysis, why something happened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Proactive, predictive, automated decision making &amp; forecasting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238296"/>
                  </a:ext>
                </a:extLst>
              </a:tr>
            </a:tbl>
          </a:graphicData>
        </a:graphic>
      </p:graphicFrame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21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Medallion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Kumar</cp:lastModifiedBy>
  <cp:revision>35</cp:revision>
  <dcterms:created xsi:type="dcterms:W3CDTF">2013-01-27T09:14:16Z</dcterms:created>
  <dcterms:modified xsi:type="dcterms:W3CDTF">2026-03-31T05:18:56Z</dcterms:modified>
  <cp:category/>
</cp:coreProperties>
</file>